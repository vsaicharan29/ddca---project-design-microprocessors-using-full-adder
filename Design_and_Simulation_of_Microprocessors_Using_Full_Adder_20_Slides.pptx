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6675120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DESIGN &amp; SIMULATION</a:t>
            </a:r>
            <a:br/>
            <a:r>
              <a:t>OF MICROPROCESSORS</a:t>
            </a:r>
            <a:br/>
            <a:r>
              <a:t>USING A FULL 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29000"/>
            <a:ext cx="6400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ECB13B"/>
                </a:solidFill>
                <a:latin typeface="Aptos"/>
              </a:defRPr>
            </a:pPr>
            <a:r>
              <a:t>From RISC-V architecture to gate-level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09160"/>
            <a:ext cx="58521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DCE6F3"/>
                </a:solidFill>
                <a:latin typeface="Aptos"/>
              </a:defRPr>
            </a:pPr>
            <a:r>
              <a:t>Student: ____________________</a:t>
            </a:r>
            <a:br/>
            <a:r>
              <a:t>Roll No.: ____________________</a:t>
            </a:r>
            <a:br/>
            <a:r>
              <a:t>Department / College: ____________________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143000"/>
            <a:ext cx="2834640" cy="731520"/>
          </a:xfrm>
          <a:prstGeom prst="roundRect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28431" y="1325880"/>
            <a:ext cx="268833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REGISTER 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2331720"/>
            <a:ext cx="2468880" cy="731520"/>
          </a:xfrm>
          <a:prstGeom prst="roundRect">
            <a:avLst/>
          </a:prstGeom>
          <a:solidFill>
            <a:srgbClr val="2A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68512" y="2514600"/>
            <a:ext cx="232257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ALU / ADDER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3520440"/>
            <a:ext cx="3200400" cy="731520"/>
          </a:xfrm>
          <a:prstGeom prst="roundRect">
            <a:avLst/>
          </a:prstGeom>
          <a:solidFill>
            <a:srgbClr val="318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4112" y="3703320"/>
            <a:ext cx="30540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CONTROL UNIT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4709160"/>
            <a:ext cx="2651760" cy="731520"/>
          </a:xfrm>
          <a:prstGeom prst="roundRect">
            <a:avLst/>
          </a:prstGeom>
          <a:solidFill>
            <a:srgbClr val="ECB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2" y="4892040"/>
            <a:ext cx="250545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LOGIC GATES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9669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Introduction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82880"/>
            <a:ext cx="1463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100" b="1">
                <a:solidFill>
                  <a:srgbClr val="ECB13B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Aptos"/>
              </a:defRPr>
            </a:pPr>
            <a:r>
              <a:t>DESIGN &amp; SIMULATION OF MICROPROCESSORS  |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A3341"/>
                </a:solidFill>
                <a:latin typeface="Aptos"/>
              </a:defRPr>
            </a:pPr>
            <a:r>
              <a:t>•  Microprocessors execute instructions by moving and transforming binary data.</a:t>
            </a:r>
          </a:p>
          <a:p>
            <a:pPr>
              <a:spcAft>
                <a:spcPts val="1500"/>
              </a:spcAft>
              <a:defRPr sz="2000">
                <a:solidFill>
                  <a:srgbClr val="2A3341"/>
                </a:solidFill>
                <a:latin typeface="Aptos"/>
              </a:defRPr>
            </a:pPr>
            <a:r>
              <a:t>•  A full adder adds three one-bit inputs and produces a sum bit and a carry bit.</a:t>
            </a:r>
          </a:p>
          <a:p>
            <a:pPr>
              <a:spcAft>
                <a:spcPts val="1500"/>
              </a:spcAft>
              <a:defRPr sz="2000">
                <a:solidFill>
                  <a:srgbClr val="2A3341"/>
                </a:solidFill>
                <a:latin typeface="Aptos"/>
              </a:defRPr>
            </a:pPr>
            <a:r>
              <a:t>•  Objective: design the logic, simulate all input combinations, and verify correctness.</a:t>
            </a:r>
          </a:p>
          <a:p>
            <a:pPr>
              <a:spcAft>
                <a:spcPts val="1500"/>
              </a:spcAft>
              <a:defRPr sz="2000">
                <a:solidFill>
                  <a:srgbClr val="2A3341"/>
                </a:solidFill>
                <a:latin typeface="Aptos"/>
              </a:defRPr>
            </a:pPr>
            <a:r>
              <a:t>•  Connect the circuit to the ALU and the six modules of Computer Organization and Digital Logic.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074920"/>
            <a:ext cx="103327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5074920"/>
            <a:ext cx="73152" cy="777240"/>
          </a:xfrm>
          <a:prstGeom prst="rect">
            <a:avLst/>
          </a:prstGeom>
          <a:solidFill>
            <a:srgbClr val="ECB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5193792"/>
            <a:ext cx="99852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Project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5596128"/>
            <a:ext cx="9966960" cy="182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341"/>
                </a:solidFill>
                <a:latin typeface="Aptos"/>
              </a:defRPr>
            </a:pPr>
            <a:r>
              <a:t>A full adder is an arithmetic building block—not a complete microprocessor.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9669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M1 — The whole computer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82880"/>
            <a:ext cx="1463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100" b="1">
                <a:solidFill>
                  <a:srgbClr val="ECB13B"/>
                </a:solidFill>
                <a:latin typeface="Aptos"/>
              </a:defRPr>
            </a:pPr>
            <a:r>
              <a:t>CO1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Aptos"/>
              </a:defRPr>
            </a:pPr>
            <a:r>
              <a:t>DESIGN &amp; SIMULATION OF MICROPROCESSORS  |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73152" cy="1828800"/>
          </a:xfrm>
          <a:prstGeom prst="rect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353312"/>
            <a:ext cx="31272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Stored-program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55648"/>
            <a:ext cx="310896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341"/>
                </a:solidFill>
                <a:latin typeface="Aptos"/>
              </a:defRPr>
            </a:pPr>
            <a:r>
              <a:t>Instructions and data are encoded as bits in memory. The CPU fetches, decodes, and executes instructions.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73152" cy="1828800"/>
          </a:xfrm>
          <a:prstGeom prst="rect">
            <a:avLst/>
          </a:prstGeom>
          <a:solidFill>
            <a:srgbClr val="2A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353312"/>
            <a:ext cx="31272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Main CPU blocks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755648"/>
            <a:ext cx="310896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341"/>
                </a:solidFill>
                <a:latin typeface="Aptos"/>
              </a:defRPr>
            </a:pPr>
            <a:r>
              <a:t>Program counter, instruction memory, register file, control unit, ALU, and data memory.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34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234440"/>
            <a:ext cx="73152" cy="1828800"/>
          </a:xfrm>
          <a:prstGeom prst="rect">
            <a:avLst/>
          </a:prstGeom>
          <a:solidFill>
            <a:srgbClr val="318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353312"/>
            <a:ext cx="31272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Where the adder 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755648"/>
            <a:ext cx="310896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341"/>
                </a:solidFill>
                <a:latin typeface="Aptos"/>
              </a:defRPr>
            </a:pPr>
            <a:r>
              <a:t>The ALU uses arithmetic circuitry to calculate results for instructions such as ADD and SUB.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49039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14223E"/>
                </a:solidFill>
                <a:latin typeface="Aptos"/>
              </a:defRPr>
            </a:pPr>
            <a:r>
              <a:t>High-level 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389120"/>
            <a:ext cx="1554480" cy="822960"/>
          </a:xfrm>
          <a:prstGeom prst="roundRect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553712"/>
            <a:ext cx="144475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Memory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389120"/>
            <a:ext cx="1554480" cy="822960"/>
          </a:xfrm>
          <a:prstGeom prst="roundRect">
            <a:avLst/>
          </a:prstGeom>
          <a:solidFill>
            <a:srgbClr val="2A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95344" y="4553712"/>
            <a:ext cx="144475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4389120"/>
            <a:ext cx="1554480" cy="822960"/>
          </a:xfrm>
          <a:prstGeom prst="roundRect">
            <a:avLst/>
          </a:prstGeom>
          <a:solidFill>
            <a:srgbClr val="318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21424" y="4553712"/>
            <a:ext cx="144475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Register</a:t>
            </a:r>
            <a:br/>
            <a:r>
              <a:t>file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4389120"/>
            <a:ext cx="1554480" cy="822960"/>
          </a:xfrm>
          <a:prstGeom prst="roundRect">
            <a:avLst/>
          </a:prstGeom>
          <a:solidFill>
            <a:srgbClr val="ECB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4624" y="4553712"/>
            <a:ext cx="144475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ALU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468880" y="4800600"/>
            <a:ext cx="1371600" cy="0"/>
          </a:xfrm>
          <a:prstGeom prst="line">
            <a:avLst/>
          </a:prstGeom>
          <a:ln w="25400">
            <a:solidFill>
              <a:srgbClr val="2D6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788920" y="4553712"/>
            <a:ext cx="365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2D60A6"/>
                </a:solidFill>
                <a:latin typeface="Aptos"/>
              </a:defRPr>
            </a:pPr>
            <a:r>
              <a:t>→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94960" y="4800600"/>
            <a:ext cx="1371600" cy="0"/>
          </a:xfrm>
          <a:prstGeom prst="line">
            <a:avLst/>
          </a:prstGeom>
          <a:ln w="25400">
            <a:solidFill>
              <a:srgbClr val="2D6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715000" y="4553712"/>
            <a:ext cx="365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2D60A6"/>
                </a:solidFill>
                <a:latin typeface="Aptos"/>
              </a:defRPr>
            </a:pPr>
            <a:r>
              <a:t>→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21040" y="4800600"/>
            <a:ext cx="1188720" cy="0"/>
          </a:xfrm>
          <a:prstGeom prst="line">
            <a:avLst/>
          </a:prstGeom>
          <a:ln w="25400">
            <a:solidFill>
              <a:srgbClr val="2D6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641080" y="4553712"/>
            <a:ext cx="365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2D60A6"/>
                </a:solidFill>
                <a:latin typeface="Aptos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9669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M1 — RISC-V ISA and fetch–decode–execute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82880"/>
            <a:ext cx="1463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100" b="1">
                <a:solidFill>
                  <a:srgbClr val="ECB13B"/>
                </a:solidFill>
                <a:latin typeface="Aptos"/>
              </a:defRPr>
            </a:pPr>
            <a:r>
              <a:t>CO1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Aptos"/>
              </a:defRPr>
            </a:pPr>
            <a:r>
              <a:t>DESIGN &amp; SIMULATION OF MICROPROCESSORS  |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3152" cy="1508760"/>
          </a:xfrm>
          <a:prstGeom prst="rect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53312"/>
            <a:ext cx="486460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ISA = hardware/software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55648"/>
            <a:ext cx="4846320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341"/>
                </a:solidFill>
                <a:latin typeface="Aptos"/>
              </a:defRPr>
            </a:pPr>
            <a:r>
              <a:t>Defines instruction behavior and register-visible results. RISC-V includes add, sub, and, or, slt, addi, lw, sw, beq, and jal.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73152" cy="1508760"/>
          </a:xfrm>
          <a:prstGeom prst="rect">
            <a:avLst/>
          </a:prstGeom>
          <a:solidFill>
            <a:srgbClr val="2A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353312"/>
            <a:ext cx="486460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Instruction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755648"/>
            <a:ext cx="4846320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2A3341"/>
                </a:solidFill>
                <a:latin typeface="Aptos"/>
              </a:defRPr>
            </a:pPr>
            <a:r>
              <a:t>add x5, x6, x7</a:t>
            </a:r>
            <a:br/>
            <a:r>
              <a:t>Meaning: x5 ← x6 + x7.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54680"/>
            <a:ext cx="10515600" cy="27432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A3341"/>
                </a:solidFill>
                <a:latin typeface="Aptos"/>
              </a:defRPr>
            </a:pPr>
            <a:r>
              <a:t>•  Fetch: read the instruction at the address held by the PC.</a:t>
            </a:r>
          </a:p>
          <a:p>
            <a:pPr>
              <a:spcAft>
                <a:spcPts val="700"/>
              </a:spcAft>
              <a:defRPr sz="1700">
                <a:solidFill>
                  <a:srgbClr val="2A3341"/>
                </a:solidFill>
                <a:latin typeface="Aptos"/>
              </a:defRPr>
            </a:pPr>
            <a:r>
              <a:t>•  Decode: identify the opcode, registers, and operation.</a:t>
            </a:r>
          </a:p>
          <a:p>
            <a:pPr>
              <a:spcAft>
                <a:spcPts val="700"/>
              </a:spcAft>
              <a:defRPr sz="1700">
                <a:solidFill>
                  <a:srgbClr val="2A3341"/>
                </a:solidFill>
                <a:latin typeface="Aptos"/>
              </a:defRPr>
            </a:pPr>
            <a:r>
              <a:t>•  Execute: the ALU adds the operand values.</a:t>
            </a:r>
          </a:p>
          <a:p>
            <a:pPr>
              <a:spcAft>
                <a:spcPts val="700"/>
              </a:spcAft>
              <a:defRPr sz="1700">
                <a:solidFill>
                  <a:srgbClr val="2A3341"/>
                </a:solidFill>
                <a:latin typeface="Aptos"/>
              </a:defRPr>
            </a:pPr>
            <a:r>
              <a:t>•  Write-back: save the result in the destination register.</a:t>
            </a:r>
          </a:p>
          <a:p>
            <a:pPr>
              <a:spcAft>
                <a:spcPts val="700"/>
              </a:spcAft>
              <a:defRPr sz="1700">
                <a:solidFill>
                  <a:srgbClr val="2A3341"/>
                </a:solidFill>
                <a:latin typeface="Aptos"/>
              </a:defRPr>
            </a:pPr>
            <a:r>
              <a:t>•  Binary and hexadecimal make machine instructions and data easier to inspect; two's complement represents signed integers.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9669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M2 — Single-cycle datapath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82880"/>
            <a:ext cx="1463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100" b="1">
                <a:solidFill>
                  <a:srgbClr val="ECB13B"/>
                </a:solidFill>
                <a:latin typeface="Aptos"/>
              </a:defRPr>
            </a:pPr>
            <a:r>
              <a:t>CO2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Aptos"/>
              </a:defRPr>
            </a:pPr>
            <a:r>
              <a:t>DESIGN &amp; SIMULATION OF MICROPROCESSORS  |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1828800" cy="960120"/>
          </a:xfrm>
          <a:prstGeom prst="roundRect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76272"/>
            <a:ext cx="164592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Register</a:t>
            </a:r>
            <a:br/>
            <a:r>
              <a:t>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011680"/>
            <a:ext cx="1828800" cy="960120"/>
          </a:xfrm>
          <a:prstGeom prst="roundRect">
            <a:avLst/>
          </a:prstGeom>
          <a:solidFill>
            <a:srgbClr val="2A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176272"/>
            <a:ext cx="164592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ALU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2011680"/>
            <a:ext cx="1828800" cy="960120"/>
          </a:xfrm>
          <a:prstGeom prst="roundRect">
            <a:avLst/>
          </a:prstGeom>
          <a:solidFill>
            <a:srgbClr val="318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2176272"/>
            <a:ext cx="164592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Write-back</a:t>
            </a:r>
            <a:br/>
            <a:r>
              <a:t>mux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2011680"/>
            <a:ext cx="1828800" cy="960120"/>
          </a:xfrm>
          <a:prstGeom prst="roundRect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176272"/>
            <a:ext cx="164592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Destination</a:t>
            </a:r>
            <a:br/>
            <a:r>
              <a:t>register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14600" y="2487168"/>
            <a:ext cx="731520" cy="0"/>
          </a:xfrm>
          <a:prstGeom prst="line">
            <a:avLst/>
          </a:prstGeom>
          <a:ln w="31750">
            <a:solidFill>
              <a:srgbClr val="2D6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79192" y="2240280"/>
            <a:ext cx="365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2D60A6"/>
                </a:solidFill>
                <a:latin typeface="Aptos"/>
              </a:defRPr>
            </a:pPr>
            <a:r>
              <a:t>→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74920" y="2487168"/>
            <a:ext cx="640080" cy="0"/>
          </a:xfrm>
          <a:prstGeom prst="line">
            <a:avLst/>
          </a:prstGeom>
          <a:ln w="31750">
            <a:solidFill>
              <a:srgbClr val="2D6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39512" y="2240280"/>
            <a:ext cx="365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2D60A6"/>
                </a:solidFill>
                <a:latin typeface="Aptos"/>
              </a:defRPr>
            </a:pPr>
            <a:r>
              <a:t>→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43800" y="2487168"/>
            <a:ext cx="960120" cy="0"/>
          </a:xfrm>
          <a:prstGeom prst="line">
            <a:avLst/>
          </a:prstGeom>
          <a:ln w="31750">
            <a:solidFill>
              <a:srgbClr val="2D6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08392" y="2240280"/>
            <a:ext cx="365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2D60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40480"/>
            <a:ext cx="48463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3840480"/>
            <a:ext cx="73152" cy="1371600"/>
          </a:xfrm>
          <a:prstGeom prst="rect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3959352"/>
            <a:ext cx="44988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Data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361688"/>
            <a:ext cx="4480559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341"/>
                </a:solidFill>
                <a:latin typeface="Aptos"/>
              </a:defRPr>
            </a:pPr>
            <a:r>
              <a:t>Operands travel from registers to the ALU. The computed result passes through write-back to the destination register.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840480"/>
            <a:ext cx="48463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840480"/>
            <a:ext cx="73152" cy="1371600"/>
          </a:xfrm>
          <a:prstGeom prst="rect">
            <a:avLst/>
          </a:prstGeom>
          <a:solidFill>
            <a:srgbClr val="2A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3959352"/>
            <a:ext cx="44988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Other CPU paths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4361688"/>
            <a:ext cx="4480559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341"/>
                </a:solidFill>
                <a:latin typeface="Aptos"/>
              </a:defRPr>
            </a:pPr>
            <a:r>
              <a:t>The full datapath also contains the PC, instruction memory, control signals, and paths for loads, stores, and branches.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806440"/>
            <a:ext cx="10424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57182"/>
                </a:solidFill>
                <a:latin typeface="Aptos"/>
              </a:defRPr>
            </a:pPr>
            <a:r>
              <a:t>Conceptual diagram; exact wiring depends on the selected RISC-V subset and implementation.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9669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M2 — Control unit and ALU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82880"/>
            <a:ext cx="1463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100" b="1">
                <a:solidFill>
                  <a:srgbClr val="ECB13B"/>
                </a:solidFill>
                <a:latin typeface="Aptos"/>
              </a:defRPr>
            </a:pPr>
            <a:r>
              <a:t>CO2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Aptos"/>
              </a:defRPr>
            </a:pPr>
            <a:r>
              <a:t>DESIGN &amp; SIMULATION OF MICROPROCESSORS  |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A3341"/>
                </a:solidFill>
                <a:latin typeface="Aptos"/>
              </a:defRPr>
            </a:pPr>
            <a:r>
              <a:t>•  The control unit decodes the instruction opcode and function fields.</a:t>
            </a:r>
          </a:p>
          <a:p>
            <a:pPr>
              <a:spcAft>
                <a:spcPts val="1200"/>
              </a:spcAft>
              <a:defRPr sz="1900">
                <a:solidFill>
                  <a:srgbClr val="2A3341"/>
                </a:solidFill>
                <a:latin typeface="Aptos"/>
              </a:defRPr>
            </a:pPr>
            <a:r>
              <a:t>•  Control signals select the ALU operation, register write, memory access, and multiplexer paths.</a:t>
            </a:r>
          </a:p>
          <a:p>
            <a:pPr>
              <a:spcAft>
                <a:spcPts val="1200"/>
              </a:spcAft>
              <a:defRPr sz="1900">
                <a:solidFill>
                  <a:srgbClr val="2A3341"/>
                </a:solidFill>
                <a:latin typeface="Aptos"/>
              </a:defRPr>
            </a:pPr>
            <a:r>
              <a:t>•  ADD selects addition; SUB selects subtraction; AND and OR select bitwise logic; SLT compares signed values.</a:t>
            </a:r>
          </a:p>
          <a:p>
            <a:pPr>
              <a:spcAft>
                <a:spcPts val="1200"/>
              </a:spcAft>
              <a:defRPr sz="1900">
                <a:solidFill>
                  <a:srgbClr val="2A3341"/>
                </a:solidFill>
                <a:latin typeface="Aptos"/>
              </a:defRPr>
            </a:pPr>
            <a:r>
              <a:t>•  The full adder provides the core bit-level arithmetic used by an adder/subtractor circuit.</a:t>
            </a:r>
          </a:p>
          <a:p>
            <a:pPr>
              <a:spcAft>
                <a:spcPts val="1200"/>
              </a:spcAft>
              <a:defRPr sz="1900">
                <a:solidFill>
                  <a:srgbClr val="2A3341"/>
                </a:solidFill>
                <a:latin typeface="Aptos"/>
              </a:defRPr>
            </a:pPr>
            <a:r>
              <a:t>•  Control decides which operation is required; the arithmetic circuit computes the output.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5257800"/>
            <a:ext cx="100584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5257800"/>
            <a:ext cx="73152" cy="685800"/>
          </a:xfrm>
          <a:prstGeom prst="rect">
            <a:avLst/>
          </a:prstGeom>
          <a:solidFill>
            <a:srgbClr val="ECB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5376672"/>
            <a:ext cx="97109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Key distinction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5779008"/>
            <a:ext cx="9692640" cy="91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341"/>
                </a:solidFill>
                <a:latin typeface="Aptos"/>
              </a:defRPr>
            </a:pPr>
            <a:r>
              <a:t>The full adder is part of the datapath; it is not the instruction decoder.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9669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M3 — Memory and register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82880"/>
            <a:ext cx="1463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100" b="1">
                <a:solidFill>
                  <a:srgbClr val="ECB13B"/>
                </a:solidFill>
                <a:latin typeface="Aptos"/>
              </a:defRPr>
            </a:pPr>
            <a:r>
              <a:t>CO3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Aptos"/>
              </a:defRPr>
            </a:pPr>
            <a:r>
              <a:t>DESIGN &amp; SIMULATION OF MICROPROCESSORS  |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73152" cy="1828800"/>
          </a:xfrm>
          <a:prstGeom prst="rect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399031"/>
            <a:ext cx="47274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Register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01367"/>
            <a:ext cx="4709159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341"/>
                </a:solidFill>
                <a:latin typeface="Aptos"/>
              </a:defRPr>
            </a:pPr>
            <a:r>
              <a:t>A small, fast collection of CPU registers. Typically reads two source operands and writes one result per clock in a simple datapath.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28016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280160"/>
            <a:ext cx="73152" cy="1828800"/>
          </a:xfrm>
          <a:prstGeom prst="rect">
            <a:avLst/>
          </a:prstGeom>
          <a:solidFill>
            <a:srgbClr val="318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399031"/>
            <a:ext cx="47274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1801367"/>
            <a:ext cx="4709159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341"/>
                </a:solidFill>
                <a:latin typeface="Aptos"/>
              </a:defRPr>
            </a:pPr>
            <a:r>
              <a:t>Instruction memory supplies program instructions; data memory stores values accessed by load and store instructions.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14223E"/>
                </a:solidFill>
                <a:latin typeface="Aptos"/>
              </a:defRPr>
            </a:pPr>
            <a:r>
              <a:t>Example operand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101498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2D60A6"/>
                </a:solidFill>
                <a:latin typeface="Aptos"/>
              </a:defRPr>
            </a:pPr>
            <a:r>
              <a:t>x6 = 5  +  x7 = 3  →  ALU  →  x5 =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10058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0">
                <a:solidFill>
                  <a:srgbClr val="2A3341"/>
                </a:solidFill>
                <a:latin typeface="Aptos"/>
              </a:defRPr>
            </a:pPr>
            <a:r>
              <a:t>The register file supplies values; the ALU calculates; write-back stores the result.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9669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M3 — Memory hierarchy and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82880"/>
            <a:ext cx="1463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100" b="1">
                <a:solidFill>
                  <a:srgbClr val="ECB13B"/>
                </a:solidFill>
                <a:latin typeface="Aptos"/>
              </a:defRPr>
            </a:pPr>
            <a:r>
              <a:t>CO3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Aptos"/>
              </a:defRPr>
            </a:pPr>
            <a:r>
              <a:t>DESIGN &amp; SIMULATION OF MICROPROCESSORS  |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43000"/>
            <a:ext cx="102412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143000"/>
            <a:ext cx="73152" cy="804672"/>
          </a:xfrm>
          <a:prstGeom prst="rect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261872"/>
            <a:ext cx="9893807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Registers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664207"/>
            <a:ext cx="9875519" cy="2103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A3341"/>
                </a:solidFill>
                <a:latin typeface="Aptos"/>
              </a:defRPr>
            </a:pPr>
            <a:r>
              <a:t>Smallest and fastest; hold active operands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67128"/>
            <a:ext cx="102412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167128"/>
            <a:ext cx="73152" cy="804672"/>
          </a:xfrm>
          <a:prstGeom prst="rect">
            <a:avLst/>
          </a:prstGeom>
          <a:solidFill>
            <a:srgbClr val="2A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286000"/>
            <a:ext cx="9893807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Cache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688336"/>
            <a:ext cx="9875519" cy="2103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A3341"/>
                </a:solidFill>
                <a:latin typeface="Aptos"/>
              </a:defRPr>
            </a:pPr>
            <a:r>
              <a:t>Keeps recently/frequently used data close to CPU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191256"/>
            <a:ext cx="102412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191256"/>
            <a:ext cx="73152" cy="804672"/>
          </a:xfrm>
          <a:prstGeom prst="rect">
            <a:avLst/>
          </a:prstGeom>
          <a:solidFill>
            <a:srgbClr val="318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310128"/>
            <a:ext cx="9893807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Main memory (RAM)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712464"/>
            <a:ext cx="9875519" cy="2103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A3341"/>
                </a:solidFill>
                <a:latin typeface="Aptos"/>
              </a:defRPr>
            </a:pPr>
            <a:r>
              <a:t>Larger working store; slower than cache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215384"/>
            <a:ext cx="102412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215384"/>
            <a:ext cx="73152" cy="804672"/>
          </a:xfrm>
          <a:prstGeom prst="rect">
            <a:avLst/>
          </a:prstGeom>
          <a:solidFill>
            <a:srgbClr val="ECB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334256"/>
            <a:ext cx="9893807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Secondary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736592"/>
            <a:ext cx="9875519" cy="2103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A3341"/>
                </a:solidFill>
                <a:latin typeface="Aptos"/>
              </a:defRPr>
            </a:pPr>
            <a:r>
              <a:t>Persistent, large-capacity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101498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4223E"/>
                </a:solidFill>
                <a:latin typeface="Aptos"/>
              </a:defRPr>
            </a:pPr>
            <a:r>
              <a:t>The full adder calculates values; memory hierarchy determines where instructions and data are stored and how quickly they can be accessed.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9669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M4 — Sequential logic and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82880"/>
            <a:ext cx="1463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100" b="1">
                <a:solidFill>
                  <a:srgbClr val="ECB13B"/>
                </a:solidFill>
                <a:latin typeface="Aptos"/>
              </a:defRPr>
            </a:pPr>
            <a:r>
              <a:t>CO4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Aptos"/>
              </a:defRPr>
            </a:pPr>
            <a:r>
              <a:t>DESIGN &amp; SIMULATION OF MICROPROCESSORS  | 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029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1828800"/>
          </a:xfrm>
          <a:prstGeom prst="rect">
            <a:avLst/>
          </a:prstGeom>
          <a:solidFill>
            <a:srgbClr val="2A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44752"/>
            <a:ext cx="46817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Combinational circuit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47088"/>
            <a:ext cx="466344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341"/>
                </a:solidFill>
                <a:latin typeface="Aptos"/>
              </a:defRPr>
            </a:pPr>
            <a:r>
              <a:t>Outputs depend on current inputs. A full adder is combinational: change A, B, or Cin and its outputs respond after propagation delay.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25880"/>
            <a:ext cx="5029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325880"/>
            <a:ext cx="73152" cy="1828800"/>
          </a:xfrm>
          <a:prstGeom prst="rect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444752"/>
            <a:ext cx="46817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Sequential circuit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1847088"/>
            <a:ext cx="466344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341"/>
                </a:solidFill>
                <a:latin typeface="Aptos"/>
              </a:defRPr>
            </a:pPr>
            <a:r>
              <a:t>Stores state. Flip-flops and registers hold values and update according to clock events.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033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14223E"/>
                </a:solidFill>
                <a:latin typeface="Aptos"/>
              </a:defRPr>
            </a:pPr>
            <a:r>
              <a:t>Why both are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10241280" cy="16459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A3341"/>
                </a:solidFill>
                <a:latin typeface="Aptos"/>
              </a:defRPr>
            </a:pPr>
            <a:r>
              <a:t>•  The ALU computes an arithmetic result using combinational logic.</a:t>
            </a:r>
          </a:p>
          <a:p>
            <a:pPr>
              <a:spcAft>
                <a:spcPts val="800"/>
              </a:spcAft>
              <a:defRPr sz="1800">
                <a:solidFill>
                  <a:srgbClr val="2A3341"/>
                </a:solidFill>
                <a:latin typeface="Aptos"/>
              </a:defRPr>
            </a:pPr>
            <a:r>
              <a:t>•  The register file and program counter preserve CPU state.</a:t>
            </a:r>
          </a:p>
          <a:p>
            <a:pPr>
              <a:spcAft>
                <a:spcPts val="800"/>
              </a:spcAft>
              <a:defRPr sz="1800">
                <a:solidFill>
                  <a:srgbClr val="2A3341"/>
                </a:solidFill>
                <a:latin typeface="Aptos"/>
              </a:defRPr>
            </a:pPr>
            <a:r>
              <a:t>•  Feedback and clocked storage let a processor execute a sequence of instructions.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9669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M4 — Clocking and state in the CPU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82880"/>
            <a:ext cx="1463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100" b="1">
                <a:solidFill>
                  <a:srgbClr val="ECB13B"/>
                </a:solidFill>
                <a:latin typeface="Aptos"/>
              </a:defRPr>
            </a:pPr>
            <a:r>
              <a:t>CO4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Aptos"/>
              </a:defRPr>
            </a:pPr>
            <a:r>
              <a:t>DESIGN &amp; SIMULATION OF MICROPROCESSORS  |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14223E"/>
                </a:solidFill>
                <a:latin typeface="Aptos"/>
              </a:defRPr>
            </a:pPr>
            <a:r>
              <a:t>Illustrative instruction sequence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20240"/>
            <a:ext cx="1920240" cy="777240"/>
          </a:xfrm>
          <a:prstGeom prst="roundRect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21408"/>
            <a:ext cx="17739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Fetch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88920" y="2313432"/>
            <a:ext cx="868680" cy="0"/>
          </a:xfrm>
          <a:prstGeom prst="line">
            <a:avLst/>
          </a:prstGeom>
          <a:ln w="25400">
            <a:solidFill>
              <a:srgbClr val="2D6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063239" y="2084831"/>
            <a:ext cx="320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2D60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920240"/>
            <a:ext cx="1920240" cy="777240"/>
          </a:xfrm>
          <a:prstGeom prst="roundRect">
            <a:avLst/>
          </a:prstGeom>
          <a:solidFill>
            <a:srgbClr val="2A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2121408"/>
            <a:ext cx="17739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Decode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77840" y="2313432"/>
            <a:ext cx="868680" cy="0"/>
          </a:xfrm>
          <a:prstGeom prst="line">
            <a:avLst/>
          </a:prstGeom>
          <a:ln w="25400">
            <a:solidFill>
              <a:srgbClr val="2D6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852160" y="2084831"/>
            <a:ext cx="320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2D60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920240"/>
            <a:ext cx="1920240" cy="777240"/>
          </a:xfrm>
          <a:prstGeom prst="roundRect">
            <a:avLst/>
          </a:prstGeom>
          <a:solidFill>
            <a:srgbClr val="318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121408"/>
            <a:ext cx="17739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Execute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66760" y="2313432"/>
            <a:ext cx="868680" cy="0"/>
          </a:xfrm>
          <a:prstGeom prst="line">
            <a:avLst/>
          </a:prstGeom>
          <a:ln w="25400">
            <a:solidFill>
              <a:srgbClr val="2D6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41080" y="2084831"/>
            <a:ext cx="320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2D60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39" y="1920240"/>
            <a:ext cx="1920240" cy="777240"/>
          </a:xfrm>
          <a:prstGeom prst="roundRect">
            <a:avLst/>
          </a:prstGeom>
          <a:solidFill>
            <a:srgbClr val="ECB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8591" y="2121408"/>
            <a:ext cx="17739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Write-back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337560"/>
            <a:ext cx="4846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337560"/>
            <a:ext cx="73152" cy="1554480"/>
          </a:xfrm>
          <a:prstGeom prst="rect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3456432"/>
            <a:ext cx="44988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Clocked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3858768"/>
            <a:ext cx="4480559" cy="9601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341"/>
                </a:solidFill>
                <a:latin typeface="Aptos"/>
              </a:defRPr>
            </a:pPr>
            <a:r>
              <a:t>At an active clock edge, state elements capture selected values according to their design.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337560"/>
            <a:ext cx="4846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3337560"/>
            <a:ext cx="73152" cy="1554480"/>
          </a:xfrm>
          <a:prstGeom prst="rect">
            <a:avLst/>
          </a:prstGeom>
          <a:solidFill>
            <a:srgbClr val="318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8" y="3456432"/>
            <a:ext cx="44988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Full-adder timing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6248" y="3858768"/>
            <a:ext cx="4480559" cy="9601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341"/>
                </a:solidFill>
                <a:latin typeface="Aptos"/>
              </a:defRPr>
            </a:pPr>
            <a:r>
              <a:t>The full adder does not need a clock. Its outputs settle after the input changes; the CPU may capture the result in a register.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440680"/>
            <a:ext cx="10149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657182"/>
                </a:solidFill>
                <a:latin typeface="Aptos"/>
              </a:defRPr>
            </a:pPr>
            <a:r>
              <a:t>Setup and hold time are important timing constraints for reliable register operation.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9669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M5 — Half adder vs full 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82880"/>
            <a:ext cx="1463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100" b="1">
                <a:solidFill>
                  <a:srgbClr val="ECB13B"/>
                </a:solidFill>
                <a:latin typeface="Aptos"/>
              </a:defRPr>
            </a:pPr>
            <a:r>
              <a:t>CO5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Aptos"/>
              </a:defRPr>
            </a:pPr>
            <a:r>
              <a:t>DESIGN &amp; SIMULATION OF MICROPROCESSORS  |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50292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73152" cy="1965960"/>
          </a:xfrm>
          <a:prstGeom prst="rect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490472"/>
            <a:ext cx="46817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Half adder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92807"/>
            <a:ext cx="46634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2A3341"/>
                </a:solidFill>
                <a:latin typeface="Aptos"/>
              </a:defRPr>
            </a:pPr>
            <a:r>
              <a:t>Inputs: A, B</a:t>
            </a:r>
            <a:br/>
            <a:r>
              <a:t>Outputs: Sum, Carry</a:t>
            </a:r>
            <a:br/>
            <a:r>
              <a:t>Sum = A XOR B</a:t>
            </a:r>
            <a:br/>
            <a:r>
              <a:t>Carry = A AND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0292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73152" cy="1965960"/>
          </a:xfrm>
          <a:prstGeom prst="rect">
            <a:avLst/>
          </a:prstGeom>
          <a:solidFill>
            <a:srgbClr val="2A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490472"/>
            <a:ext cx="46817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Full adder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1892807"/>
            <a:ext cx="46634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2A3341"/>
                </a:solidFill>
                <a:latin typeface="Aptos"/>
              </a:defRPr>
            </a:pPr>
            <a:r>
              <a:t>Inputs: A, B, Cin</a:t>
            </a:r>
            <a:br/>
            <a:r>
              <a:t>Outputs: Sum, Cout</a:t>
            </a:r>
            <a:br/>
            <a:r>
              <a:t>Adds three one-bit values and includes carry from the previous stage.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8620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14223E"/>
                </a:solidFill>
                <a:latin typeface="Aptos"/>
              </a:defRPr>
            </a:pPr>
            <a:r>
              <a:t>Why carry-in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34840"/>
            <a:ext cx="100584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200" b="1">
                <a:solidFill>
                  <a:srgbClr val="2D60A6"/>
                </a:solidFill>
                <a:latin typeface="Aptos"/>
              </a:defRPr>
            </a:pPr>
            <a:r>
              <a:t>It allows multiple full adders to be chained for multi-bit arithmetic.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303520"/>
            <a:ext cx="10241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2A3341"/>
                </a:solidFill>
                <a:latin typeface="Aptos"/>
              </a:defRPr>
            </a:pPr>
            <a:r>
              <a:t>The carry from a less-significant bit becomes the carry-in for the next bit.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9669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M5 — Full-adder Boolean expressions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82880"/>
            <a:ext cx="1463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100" b="1">
                <a:solidFill>
                  <a:srgbClr val="ECB13B"/>
                </a:solidFill>
                <a:latin typeface="Aptos"/>
              </a:defRPr>
            </a:pPr>
            <a:r>
              <a:t>CO5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Aptos"/>
              </a:defRPr>
            </a:pPr>
            <a:r>
              <a:t>DESIGN &amp; SIMULATION OF MICROPROCESSORS  |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234440"/>
            <a:ext cx="73152" cy="1417320"/>
          </a:xfrm>
          <a:prstGeom prst="rect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353312"/>
            <a:ext cx="47274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Sum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755648"/>
            <a:ext cx="4709159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0">
                <a:solidFill>
                  <a:srgbClr val="2A3341"/>
                </a:solidFill>
                <a:latin typeface="Aptos"/>
              </a:defRPr>
            </a:pPr>
            <a:r>
              <a:t>S = A ⊕ B ⊕ Cin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3444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73152" cy="1417320"/>
          </a:xfrm>
          <a:prstGeom prst="rect">
            <a:avLst/>
          </a:prstGeom>
          <a:solidFill>
            <a:srgbClr val="2A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353312"/>
            <a:ext cx="47274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Carry-out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755648"/>
            <a:ext cx="4709159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100" b="0">
                <a:solidFill>
                  <a:srgbClr val="2A3341"/>
                </a:solidFill>
                <a:latin typeface="Aptos"/>
              </a:defRPr>
            </a:pPr>
            <a:r>
              <a:t>Cout = AB + ACin + BCin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6324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14223E"/>
                </a:solidFill>
                <a:latin typeface="Aptos"/>
              </a:defRPr>
            </a:pPr>
            <a:r>
              <a:t>Gate 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5943600" cy="2286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A3341"/>
                </a:solidFill>
                <a:latin typeface="Aptos"/>
              </a:defRPr>
            </a:pPr>
            <a:r>
              <a:t>•  P = A XOR B</a:t>
            </a:r>
          </a:p>
          <a:p>
            <a:pPr>
              <a:spcAft>
                <a:spcPts val="800"/>
              </a:spcAft>
              <a:defRPr sz="1800">
                <a:solidFill>
                  <a:srgbClr val="2A3341"/>
                </a:solidFill>
                <a:latin typeface="Aptos"/>
              </a:defRPr>
            </a:pPr>
            <a:r>
              <a:t>•  Sum = P XOR Cin</a:t>
            </a:r>
          </a:p>
          <a:p>
            <a:pPr>
              <a:spcAft>
                <a:spcPts val="800"/>
              </a:spcAft>
              <a:defRPr sz="1800">
                <a:solidFill>
                  <a:srgbClr val="2A3341"/>
                </a:solidFill>
                <a:latin typeface="Aptos"/>
              </a:defRPr>
            </a:pPr>
            <a:r>
              <a:t>•  C1 = A AND B; C2 = P AND Cin</a:t>
            </a:r>
          </a:p>
          <a:p>
            <a:pPr>
              <a:spcAft>
                <a:spcPts val="800"/>
              </a:spcAft>
              <a:defRPr sz="1800">
                <a:solidFill>
                  <a:srgbClr val="2A3341"/>
                </a:solidFill>
                <a:latin typeface="Aptos"/>
              </a:defRPr>
            </a:pPr>
            <a:r>
              <a:t>•  Cout = C1 OR C2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3383280"/>
            <a:ext cx="4023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383280"/>
            <a:ext cx="73152" cy="1600200"/>
          </a:xfrm>
          <a:prstGeom prst="rect">
            <a:avLst/>
          </a:prstGeom>
          <a:solidFill>
            <a:srgbClr val="318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96328" y="3502152"/>
            <a:ext cx="367588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Components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3904488"/>
            <a:ext cx="36576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2A3341"/>
                </a:solidFill>
                <a:latin typeface="Aptos"/>
              </a:defRPr>
            </a:pPr>
            <a:r>
              <a:t>2 XOR gates</a:t>
            </a:r>
            <a:br/>
            <a:r>
              <a:t>2 AND gates</a:t>
            </a:r>
            <a:br/>
            <a:r>
              <a:t>1 OR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97880"/>
            <a:ext cx="10241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657182"/>
                </a:solidFill>
                <a:latin typeface="Aptos"/>
              </a:defRPr>
            </a:pPr>
            <a:r>
              <a:t>Boolean symbols: ⊕ means XOR, · means AND, and + means 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9669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M5 — Truth table and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82880"/>
            <a:ext cx="1463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100" b="1">
                <a:solidFill>
                  <a:srgbClr val="ECB13B"/>
                </a:solidFill>
                <a:latin typeface="Aptos"/>
              </a:defRPr>
            </a:pPr>
            <a:r>
              <a:t>CO5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Aptos"/>
              </a:defRPr>
            </a:pPr>
            <a:r>
              <a:t>DESIGN &amp; SIMULATION OF MICROPROCESSORS  |  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097280"/>
          <a:ext cx="576072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44"/>
                <a:gridCol w="1152144"/>
                <a:gridCol w="1152144"/>
                <a:gridCol w="1152144"/>
                <a:gridCol w="1152144"/>
              </a:tblGrid>
              <a:tr h="5638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4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4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Cin</a:t>
                      </a:r>
                    </a:p>
                  </a:txBody>
                  <a:tcPr>
                    <a:solidFill>
                      <a:srgbClr val="14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Sum</a:t>
                      </a:r>
                    </a:p>
                  </a:txBody>
                  <a:tcPr>
                    <a:solidFill>
                      <a:srgbClr val="14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Cout</a:t>
                      </a:r>
                    </a:p>
                  </a:txBody>
                  <a:tcPr>
                    <a:solidFill>
                      <a:srgbClr val="14223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2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2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2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2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2EBF6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2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2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2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2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2EBF6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2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2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2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2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2EBF6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2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2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2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2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2EBF6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A33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95160" y="1508760"/>
            <a:ext cx="4297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95160" y="1508760"/>
            <a:ext cx="73152" cy="1417320"/>
          </a:xfrm>
          <a:prstGeom prst="rect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96328" y="1627631"/>
            <a:ext cx="395020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Example: 1 + 1 + 0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6328" y="2029967"/>
            <a:ext cx="39319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2A3341"/>
                </a:solidFill>
                <a:latin typeface="Aptos"/>
              </a:defRPr>
            </a:pPr>
            <a:r>
              <a:t>Sum = 0, Cout = 1</a:t>
            </a:r>
            <a:br/>
            <a:r>
              <a:t>Binary result: 10₂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3383280"/>
            <a:ext cx="42976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3383280"/>
            <a:ext cx="73152" cy="1600200"/>
          </a:xfrm>
          <a:prstGeom prst="rect">
            <a:avLst/>
          </a:prstGeom>
          <a:solidFill>
            <a:srgbClr val="318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96328" y="3502152"/>
            <a:ext cx="395020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Example: 1 + 1 + 1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8" y="3904488"/>
            <a:ext cx="393192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2A3341"/>
                </a:solidFill>
                <a:latin typeface="Aptos"/>
              </a:defRPr>
            </a:pPr>
            <a:r>
              <a:t>Sum = 1, Cout = 1</a:t>
            </a:r>
            <a:br/>
            <a:r>
              <a:t>Binary result: 11₂ = 3₁₀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9669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M5 — Ripple-carry adder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82880"/>
            <a:ext cx="1463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100" b="1">
                <a:solidFill>
                  <a:srgbClr val="ECB13B"/>
                </a:solidFill>
                <a:latin typeface="Aptos"/>
              </a:defRPr>
            </a:pPr>
            <a:r>
              <a:t>CO5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Aptos"/>
              </a:defRPr>
            </a:pPr>
            <a:r>
              <a:t>DESIGN &amp; SIMULATION OF MICROPROCESSORS  | 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1600200" cy="960120"/>
          </a:xfrm>
          <a:prstGeom prst="roundRect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82496"/>
            <a:ext cx="1472184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Full adder</a:t>
            </a:r>
            <a:br/>
            <a:r>
              <a:t>bit 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1993392"/>
            <a:ext cx="1188720" cy="0"/>
          </a:xfrm>
          <a:prstGeom prst="line">
            <a:avLst/>
          </a:prstGeom>
          <a:ln w="31750">
            <a:solidFill>
              <a:srgbClr val="2D6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42032" y="1673352"/>
            <a:ext cx="822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2D60A6"/>
                </a:solidFill>
                <a:latin typeface="Aptos"/>
              </a:defRPr>
            </a:pPr>
            <a:r>
              <a:t>carry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508760"/>
            <a:ext cx="1600200" cy="960120"/>
          </a:xfrm>
          <a:prstGeom prst="roundRect">
            <a:avLst/>
          </a:prstGeom>
          <a:solidFill>
            <a:srgbClr val="2A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682496"/>
            <a:ext cx="1472184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Full adder</a:t>
            </a:r>
            <a:br/>
            <a:r>
              <a:t>bit 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66360" y="1993392"/>
            <a:ext cx="1188719" cy="0"/>
          </a:xfrm>
          <a:prstGeom prst="line">
            <a:avLst/>
          </a:prstGeom>
          <a:ln w="31750">
            <a:solidFill>
              <a:srgbClr val="2D6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30952" y="1673352"/>
            <a:ext cx="822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2D60A6"/>
                </a:solidFill>
                <a:latin typeface="Aptos"/>
              </a:defRPr>
            </a:pPr>
            <a:r>
              <a:t>carry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508760"/>
            <a:ext cx="1600200" cy="960120"/>
          </a:xfrm>
          <a:prstGeom prst="roundRect">
            <a:avLst/>
          </a:prstGeom>
          <a:solidFill>
            <a:srgbClr val="318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682496"/>
            <a:ext cx="1472184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Full adder</a:t>
            </a:r>
            <a:br/>
            <a:r>
              <a:t>bit 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55279" y="1993392"/>
            <a:ext cx="1188721" cy="0"/>
          </a:xfrm>
          <a:prstGeom prst="line">
            <a:avLst/>
          </a:prstGeom>
          <a:ln w="31750">
            <a:solidFill>
              <a:srgbClr val="2D6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19872" y="1673352"/>
            <a:ext cx="822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2D60A6"/>
                </a:solidFill>
                <a:latin typeface="Aptos"/>
              </a:defRPr>
            </a:pPr>
            <a:r>
              <a:t>carry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508760"/>
            <a:ext cx="1600200" cy="960120"/>
          </a:xfrm>
          <a:prstGeom prst="roundRect">
            <a:avLst/>
          </a:prstGeom>
          <a:solidFill>
            <a:srgbClr val="ECB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8" y="1682496"/>
            <a:ext cx="1472184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Full adder</a:t>
            </a:r>
            <a:br/>
            <a:r>
              <a:t>bit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063240"/>
            <a:ext cx="5943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14223E"/>
                </a:solidFill>
                <a:latin typeface="Aptos"/>
              </a:defRPr>
            </a:pPr>
            <a:r>
              <a:t>Subtraction using two's complement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11880"/>
            <a:ext cx="7315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2D60A6"/>
                </a:solidFill>
                <a:latin typeface="Aptos"/>
              </a:defRPr>
            </a:pPr>
            <a:r>
              <a:t>A − B = A + NOT(B) + 1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34840"/>
            <a:ext cx="10332720" cy="150876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A3341"/>
                </a:solidFill>
                <a:latin typeface="Aptos"/>
              </a:defRPr>
            </a:pPr>
            <a:r>
              <a:t>•  Invert each bit of B and set the initial carry-in to 1.</a:t>
            </a:r>
          </a:p>
          <a:p>
            <a:pPr>
              <a:spcAft>
                <a:spcPts val="700"/>
              </a:spcAft>
              <a:defRPr sz="1700">
                <a:solidFill>
                  <a:srgbClr val="2A3341"/>
                </a:solidFill>
                <a:latin typeface="Aptos"/>
              </a:defRPr>
            </a:pPr>
            <a:r>
              <a:t>•  Reuse adder hardware for both addition and subtraction.</a:t>
            </a:r>
          </a:p>
          <a:p>
            <a:pPr>
              <a:spcAft>
                <a:spcPts val="700"/>
              </a:spcAft>
              <a:defRPr sz="1700">
                <a:solidFill>
                  <a:srgbClr val="2A3341"/>
                </a:solidFill>
                <a:latin typeface="Aptos"/>
              </a:defRPr>
            </a:pPr>
            <a:r>
              <a:t>•  Carry propagation creates delay as the number of bit stages grows.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9669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M6 — Logic gates and Boolean algebra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82880"/>
            <a:ext cx="1463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100" b="1">
                <a:solidFill>
                  <a:srgbClr val="ECB13B"/>
                </a:solidFill>
                <a:latin typeface="Aptos"/>
              </a:defRPr>
            </a:pPr>
            <a:r>
              <a:t>CO6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Aptos"/>
              </a:defRPr>
            </a:pPr>
            <a:r>
              <a:t>DESIGN &amp; SIMULATION OF MICROPROCESSORS  |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73152" cy="1280160"/>
          </a:xfrm>
          <a:prstGeom prst="rect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353312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3063240" cy="6857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A3341"/>
                </a:solidFill>
                <a:latin typeface="Aptos"/>
              </a:defRPr>
            </a:pPr>
            <a:r>
              <a:t>1 only when both inputs are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23444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234440"/>
            <a:ext cx="73152" cy="1280160"/>
          </a:xfrm>
          <a:prstGeom prst="rect">
            <a:avLst/>
          </a:prstGeom>
          <a:solidFill>
            <a:srgbClr val="318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1353312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755648"/>
            <a:ext cx="3063240" cy="6857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A3341"/>
                </a:solidFill>
                <a:latin typeface="Aptos"/>
              </a:defRPr>
            </a:pPr>
            <a:r>
              <a:t>1 when either input is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23444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1234440"/>
            <a:ext cx="73152" cy="1280160"/>
          </a:xfrm>
          <a:prstGeom prst="rect">
            <a:avLst/>
          </a:prstGeom>
          <a:solidFill>
            <a:srgbClr val="ECB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1353312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NOT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1755648"/>
            <a:ext cx="3063240" cy="6857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A3341"/>
                </a:solidFill>
                <a:latin typeface="Aptos"/>
              </a:defRPr>
            </a:pPr>
            <a:r>
              <a:t>Inverts the input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2608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926080"/>
            <a:ext cx="73152" cy="1280160"/>
          </a:xfrm>
          <a:prstGeom prst="rect">
            <a:avLst/>
          </a:prstGeom>
          <a:solidFill>
            <a:srgbClr val="2A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044952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XOR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447288"/>
            <a:ext cx="3063240" cy="6857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A3341"/>
                </a:solidFill>
                <a:latin typeface="Aptos"/>
              </a:defRPr>
            </a:pPr>
            <a:r>
              <a:t>1 when inputs differ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292608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2926080"/>
            <a:ext cx="73152" cy="1280160"/>
          </a:xfrm>
          <a:prstGeom prst="rect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3044952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NAND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3168" y="3447288"/>
            <a:ext cx="3063240" cy="6857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A3341"/>
                </a:solidFill>
                <a:latin typeface="Aptos"/>
              </a:defRPr>
            </a:pPr>
            <a:r>
              <a:t>NOT(AND); universal gate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292608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0" y="2926080"/>
            <a:ext cx="73152" cy="1280160"/>
          </a:xfrm>
          <a:prstGeom prst="rect">
            <a:avLst/>
          </a:prstGeom>
          <a:solidFill>
            <a:srgbClr val="318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13648" y="3044952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NOR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3648" y="3447288"/>
            <a:ext cx="3063240" cy="6857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A3341"/>
                </a:solidFill>
                <a:latin typeface="Aptos"/>
              </a:defRPr>
            </a:pPr>
            <a:r>
              <a:t>NOT(OR); universal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074920"/>
            <a:ext cx="103327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14223E"/>
                </a:solidFill>
                <a:latin typeface="Aptos"/>
              </a:defRPr>
            </a:pPr>
            <a:r>
              <a:t>Truth tables and Boolean algebra convert the full-adder behavior into a network of gates.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76072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657182"/>
                </a:solidFill>
                <a:latin typeface="Aptos"/>
              </a:defRPr>
            </a:pPr>
            <a:r>
              <a:t>Sum-of-products is one systematic way to derive a circuit from a truth table.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9669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M6 — Universal gates and physical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82880"/>
            <a:ext cx="1463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100" b="1">
                <a:solidFill>
                  <a:srgbClr val="ECB13B"/>
                </a:solidFill>
                <a:latin typeface="Aptos"/>
              </a:defRPr>
            </a:pPr>
            <a:r>
              <a:t>CO6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Aptos"/>
              </a:defRPr>
            </a:pPr>
            <a:r>
              <a:t>DESIGN &amp; SIMULATION OF MICROPROCESSORS  | 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8016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280160"/>
            <a:ext cx="73152" cy="1737360"/>
          </a:xfrm>
          <a:prstGeom prst="rect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399031"/>
            <a:ext cx="47274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NAND universality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01367"/>
            <a:ext cx="4709159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A3341"/>
                </a:solidFill>
                <a:latin typeface="Aptos"/>
              </a:defRPr>
            </a:pPr>
            <a:r>
              <a:t>Any Boolean function can be built using NAND gates alone. This offers an alternative implementation of full-adder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73152" cy="1737360"/>
          </a:xfrm>
          <a:prstGeom prst="rect">
            <a:avLst/>
          </a:prstGeom>
          <a:solidFill>
            <a:srgbClr val="2A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399031"/>
            <a:ext cx="47274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Physical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801367"/>
            <a:ext cx="4709159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A3341"/>
                </a:solidFill>
                <a:latin typeface="Aptos"/>
              </a:defRPr>
            </a:pPr>
            <a:r>
              <a:t>Logic 0 and logic 1 correspond to voltage ranges in a circuit. Transistors are used to implement practical logic gates.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114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14223E"/>
                </a:solidFill>
                <a:latin typeface="Aptos"/>
              </a:defRPr>
            </a:pPr>
            <a:r>
              <a:t>Conceptual decomposition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34840"/>
            <a:ext cx="1645920" cy="731520"/>
          </a:xfrm>
          <a:prstGeom prst="round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645152"/>
            <a:ext cx="1554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CPU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68880" y="4800600"/>
            <a:ext cx="594360" cy="0"/>
          </a:xfrm>
          <a:prstGeom prst="line">
            <a:avLst/>
          </a:prstGeom>
          <a:ln w="25400">
            <a:solidFill>
              <a:srgbClr val="2D6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33472" y="4572000"/>
            <a:ext cx="274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2D60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63240" y="4434840"/>
            <a:ext cx="1645920" cy="731520"/>
          </a:xfrm>
          <a:prstGeom prst="roundRect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4645152"/>
            <a:ext cx="1554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ALU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09160" y="4800600"/>
            <a:ext cx="594360" cy="0"/>
          </a:xfrm>
          <a:prstGeom prst="line">
            <a:avLst/>
          </a:prstGeom>
          <a:ln w="25400">
            <a:solidFill>
              <a:srgbClr val="2D6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873752" y="4572000"/>
            <a:ext cx="274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2D60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4434840"/>
            <a:ext cx="1645920" cy="731520"/>
          </a:xfrm>
          <a:prstGeom prst="roundRect">
            <a:avLst/>
          </a:prstGeom>
          <a:solidFill>
            <a:srgbClr val="2A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40" y="4645152"/>
            <a:ext cx="1554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Adder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49440" y="4800600"/>
            <a:ext cx="594360" cy="0"/>
          </a:xfrm>
          <a:prstGeom prst="line">
            <a:avLst/>
          </a:prstGeom>
          <a:ln w="25400">
            <a:solidFill>
              <a:srgbClr val="2D6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14032" y="4572000"/>
            <a:ext cx="274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2D60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4434840"/>
            <a:ext cx="1645920" cy="731520"/>
          </a:xfrm>
          <a:prstGeom prst="roundRect">
            <a:avLst/>
          </a:prstGeom>
          <a:solidFill>
            <a:srgbClr val="318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4645152"/>
            <a:ext cx="1554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Gates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89720" y="4800600"/>
            <a:ext cx="594360" cy="0"/>
          </a:xfrm>
          <a:prstGeom prst="line">
            <a:avLst/>
          </a:prstGeom>
          <a:ln w="25400">
            <a:solidFill>
              <a:srgbClr val="2D6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354312" y="4572000"/>
            <a:ext cx="274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2D60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4434840"/>
            <a:ext cx="1645920" cy="731520"/>
          </a:xfrm>
          <a:prstGeom prst="roundRect">
            <a:avLst/>
          </a:prstGeom>
          <a:solidFill>
            <a:srgbClr val="ECB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9800" y="4645152"/>
            <a:ext cx="1554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Transistors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623560"/>
            <a:ext cx="10241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2A3341"/>
                </a:solidFill>
                <a:latin typeface="Aptos"/>
              </a:defRPr>
            </a:pPr>
            <a:r>
              <a:t>Opening each layer connects high-level processor behavior to physical logic.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9669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Simulation using Logisim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82880"/>
            <a:ext cx="1463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100" b="1">
                <a:solidFill>
                  <a:srgbClr val="ECB13B"/>
                </a:solidFill>
                <a:latin typeface="Aptos"/>
              </a:defRPr>
            </a:pPr>
            <a: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Aptos"/>
              </a:defRPr>
            </a:pPr>
            <a:r>
              <a:t>DESIGN &amp; SIMULATION OF MICROPROCESSORS  |  17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115568"/>
            <a:ext cx="502920" cy="502920"/>
          </a:xfrm>
          <a:prstGeom prst="ellipse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197864"/>
            <a:ext cx="502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143000"/>
            <a:ext cx="1463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4223E"/>
                </a:solidFill>
                <a:latin typeface="Aptos"/>
              </a:defRPr>
            </a:pPr>
            <a:r>
              <a:t>1. 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143000"/>
            <a:ext cx="79552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2A3341"/>
                </a:solidFill>
                <a:latin typeface="Aptos"/>
              </a:defRPr>
            </a:pPr>
            <a:r>
              <a:t>Start a new circuit named FullAdder.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39696"/>
            <a:ext cx="502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084831"/>
            <a:ext cx="1463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4223E"/>
                </a:solidFill>
                <a:latin typeface="Aptos"/>
              </a:defRPr>
            </a:pPr>
            <a:r>
              <a:t>2.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084831"/>
            <a:ext cx="79552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2A3341"/>
                </a:solidFill>
                <a:latin typeface="Aptos"/>
              </a:defRPr>
            </a:pPr>
            <a:r>
              <a:t>Add input pins A, B, Cin and output pins Sum, Cout.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2999232"/>
            <a:ext cx="502920" cy="502920"/>
          </a:xfrm>
          <a:prstGeom prst="ellipse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81528"/>
            <a:ext cx="502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026664"/>
            <a:ext cx="1463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4223E"/>
                </a:solidFill>
                <a:latin typeface="Aptos"/>
              </a:defRPr>
            </a:pPr>
            <a:r>
              <a:t>3.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026664"/>
            <a:ext cx="79552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2A3341"/>
                </a:solidFill>
                <a:latin typeface="Aptos"/>
              </a:defRPr>
            </a:pPr>
            <a:r>
              <a:t>Use 2 XOR, 2 AND, and 1 OR gate.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941063"/>
            <a:ext cx="502920" cy="502920"/>
          </a:xfrm>
          <a:prstGeom prst="ellipse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502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68496"/>
            <a:ext cx="1463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4223E"/>
                </a:solidFill>
                <a:latin typeface="Aptos"/>
              </a:defRPr>
            </a:pPr>
            <a:r>
              <a:t>4. Wire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968496"/>
            <a:ext cx="79552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2A3341"/>
                </a:solidFill>
                <a:latin typeface="Aptos"/>
              </a:defRPr>
            </a:pPr>
            <a:r>
              <a:t>Connect gates according to the Boolean equations.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82896"/>
            <a:ext cx="502920" cy="502920"/>
          </a:xfrm>
          <a:prstGeom prst="ellipse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65192"/>
            <a:ext cx="502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910328"/>
            <a:ext cx="1463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4223E"/>
                </a:solidFill>
                <a:latin typeface="Aptos"/>
              </a:defRPr>
            </a:pPr>
            <a:r>
              <a:t>5.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910328"/>
            <a:ext cx="79552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2A3341"/>
                </a:solidFill>
                <a:latin typeface="Aptos"/>
              </a:defRPr>
            </a:pPr>
            <a:r>
              <a:t>Toggle inputs and check all 8 combinations against the truth table.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897880"/>
            <a:ext cx="101498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5897880"/>
            <a:ext cx="73152" cy="411480"/>
          </a:xfrm>
          <a:prstGeom prst="rect">
            <a:avLst/>
          </a:prstGeom>
          <a:solidFill>
            <a:srgbClr val="318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6016752"/>
            <a:ext cx="9802367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6419088"/>
            <a:ext cx="9784080" cy="-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2A3341"/>
                </a:solidFill>
                <a:latin typeface="Aptos"/>
              </a:defRPr>
            </a:pPr>
            <a:r>
              <a:t>All eight output combinations match the truth table.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9669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Simulation results and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82880"/>
            <a:ext cx="1463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100" b="1">
                <a:solidFill>
                  <a:srgbClr val="ECB13B"/>
                </a:solidFill>
                <a:latin typeface="Aptos"/>
              </a:defRPr>
            </a:pPr>
            <a: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Aptos"/>
              </a:defRPr>
            </a:pPr>
            <a:r>
              <a:t>DESIGN &amp; SIMULATION OF MICROPROCESSORS  |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607040" cy="43891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A3341"/>
                </a:solidFill>
                <a:latin typeface="Aptos"/>
              </a:defRPr>
            </a:pPr>
            <a:r>
              <a:t>•  Test case 000 → Sum 0, Cout 0</a:t>
            </a:r>
          </a:p>
          <a:p>
            <a:pPr>
              <a:spcAft>
                <a:spcPts val="1200"/>
              </a:spcAft>
              <a:defRPr sz="1900">
                <a:solidFill>
                  <a:srgbClr val="2A3341"/>
                </a:solidFill>
                <a:latin typeface="Aptos"/>
              </a:defRPr>
            </a:pPr>
            <a:r>
              <a:t>•  Test case 011 → Sum 0, Cout 1</a:t>
            </a:r>
          </a:p>
          <a:p>
            <a:pPr>
              <a:spcAft>
                <a:spcPts val="1200"/>
              </a:spcAft>
              <a:defRPr sz="1900">
                <a:solidFill>
                  <a:srgbClr val="2A3341"/>
                </a:solidFill>
                <a:latin typeface="Aptos"/>
              </a:defRPr>
            </a:pPr>
            <a:r>
              <a:t>•  Test case 101 → Sum 0, Cout 1</a:t>
            </a:r>
          </a:p>
          <a:p>
            <a:pPr>
              <a:spcAft>
                <a:spcPts val="1200"/>
              </a:spcAft>
              <a:defRPr sz="1900">
                <a:solidFill>
                  <a:srgbClr val="2A3341"/>
                </a:solidFill>
                <a:latin typeface="Aptos"/>
              </a:defRPr>
            </a:pPr>
            <a:r>
              <a:t>•  Test case 111 → Sum 1, Cout 1</a:t>
            </a:r>
          </a:p>
          <a:p>
            <a:pPr>
              <a:spcAft>
                <a:spcPts val="1200"/>
              </a:spcAft>
              <a:defRPr sz="1900">
                <a:solidFill>
                  <a:srgbClr val="2A3341"/>
                </a:solidFill>
                <a:latin typeface="Aptos"/>
              </a:defRPr>
            </a:pPr>
            <a:r>
              <a:t>•  Verify the remaining four cases as well; the complete truth table contains eight input combinations.</a:t>
            </a:r>
          </a:p>
          <a:p>
            <a:pPr>
              <a:spcAft>
                <a:spcPts val="1200"/>
              </a:spcAft>
              <a:defRPr sz="1900">
                <a:solidFill>
                  <a:srgbClr val="2A3341"/>
                </a:solidFill>
                <a:latin typeface="Aptos"/>
              </a:defRPr>
            </a:pPr>
            <a:r>
              <a:t>•  Record simulator screenshots showing inputs and outputs for your lab report.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100584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5486400"/>
            <a:ext cx="73152" cy="594360"/>
          </a:xfrm>
          <a:prstGeom prst="rect">
            <a:avLst/>
          </a:prstGeom>
          <a:solidFill>
            <a:srgbClr val="ECB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5605272"/>
            <a:ext cx="97109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Verification criterion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6007608"/>
            <a:ext cx="9692640" cy="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A3341"/>
                </a:solidFill>
                <a:latin typeface="Aptos"/>
              </a:defRPr>
            </a:pPr>
            <a:r>
              <a:t>Observed Sum and Cout must equal the expected truth-table values for every test.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9669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Integration, extensions, and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82880"/>
            <a:ext cx="1463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100" b="1">
                <a:solidFill>
                  <a:srgbClr val="ECB13B"/>
                </a:solidFill>
                <a:latin typeface="Aptos"/>
              </a:defRPr>
            </a:pPr>
            <a:r>
              <a:t>EXTEND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Aptos"/>
              </a:defRPr>
            </a:pPr>
            <a:r>
              <a:t>DESIGN &amp; SIMULATION OF MICROPROCESSORS  | 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73152" cy="1600200"/>
          </a:xfrm>
          <a:prstGeom prst="rect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353312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ALU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306324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341"/>
                </a:solidFill>
                <a:latin typeface="Aptos"/>
              </a:defRPr>
            </a:pPr>
            <a:r>
              <a:t>The adder is used for arithmetic operations inside the CPU datapath.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34440"/>
            <a:ext cx="73152" cy="1600200"/>
          </a:xfrm>
          <a:prstGeom prst="rect">
            <a:avLst/>
          </a:prstGeom>
          <a:solidFill>
            <a:srgbClr val="2A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353312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Wider arithmetic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755648"/>
            <a:ext cx="306324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341"/>
                </a:solidFill>
                <a:latin typeface="Aptos"/>
              </a:defRPr>
            </a:pPr>
            <a:r>
              <a:t>Connect multiple full adders to build 4-bit, 8-bit, or wider adders.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3444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234440"/>
            <a:ext cx="73152" cy="1600200"/>
          </a:xfrm>
          <a:prstGeom prst="rect">
            <a:avLst/>
          </a:prstGeom>
          <a:solidFill>
            <a:srgbClr val="318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353312"/>
            <a:ext cx="308152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755648"/>
            <a:ext cx="306324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A3341"/>
                </a:solidFill>
                <a:latin typeface="Aptos"/>
              </a:defRPr>
            </a:pPr>
            <a:r>
              <a:t>Microcontrollers, embedded systems, VLSI, and digital signal-processing hardware.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429000"/>
            <a:ext cx="10332720" cy="219456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3341"/>
                </a:solidFill>
                <a:latin typeface="Aptos"/>
              </a:defRPr>
            </a:pPr>
            <a:r>
              <a:t>•  Extend the ALU with another operation, such as XOR, by updating datapath and control logic.</a:t>
            </a:r>
          </a:p>
          <a:p>
            <a:pPr>
              <a:spcAft>
                <a:spcPts val="1000"/>
              </a:spcAft>
              <a:defRPr sz="1800">
                <a:solidFill>
                  <a:srgbClr val="2A3341"/>
                </a:solidFill>
                <a:latin typeface="Aptos"/>
              </a:defRPr>
            </a:pPr>
            <a:r>
              <a:t>•  Connect a memory-mapped output peripheral to let the CPU control LEDs or a display.</a:t>
            </a:r>
          </a:p>
          <a:p>
            <a:pPr>
              <a:spcAft>
                <a:spcPts val="1000"/>
              </a:spcAft>
              <a:defRPr sz="1800">
                <a:solidFill>
                  <a:srgbClr val="2A3341"/>
                </a:solidFill>
                <a:latin typeface="Aptos"/>
              </a:defRPr>
            </a:pPr>
            <a:r>
              <a:t>•  Performance depends on circuit delay, clock period, architecture, and other datapath components.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9669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Conclusion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182880"/>
            <a:ext cx="1463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100" b="1">
                <a:solidFill>
                  <a:srgbClr val="ECB13B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Aptos"/>
              </a:defRPr>
            </a:pPr>
            <a:r>
              <a:t>DESIGN &amp; SIMULATION OF MICROPROCESSORS  |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515600" cy="32461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3341"/>
                </a:solidFill>
                <a:latin typeface="Aptos"/>
              </a:defRPr>
            </a:pPr>
            <a:r>
              <a:t>•  M1–M2: understand the RISC-V CPU and locate the ALU in the datapath.</a:t>
            </a:r>
          </a:p>
          <a:p>
            <a:pPr>
              <a:spcAft>
                <a:spcPts val="1000"/>
              </a:spcAft>
              <a:defRPr sz="1800">
                <a:solidFill>
                  <a:srgbClr val="2A3341"/>
                </a:solidFill>
                <a:latin typeface="Aptos"/>
              </a:defRPr>
            </a:pPr>
            <a:r>
              <a:t>•  M3–M4: understand operand storage, state, and clocked sequencing.</a:t>
            </a:r>
          </a:p>
          <a:p>
            <a:pPr>
              <a:spcAft>
                <a:spcPts val="1000"/>
              </a:spcAft>
              <a:defRPr sz="1800">
                <a:solidFill>
                  <a:srgbClr val="2A3341"/>
                </a:solidFill>
                <a:latin typeface="Aptos"/>
              </a:defRPr>
            </a:pPr>
            <a:r>
              <a:t>•  M5: design the full adder, derive its equations, and build multi-bit arithmetic.</a:t>
            </a:r>
          </a:p>
          <a:p>
            <a:pPr>
              <a:spcAft>
                <a:spcPts val="1000"/>
              </a:spcAft>
              <a:defRPr sz="1800">
                <a:solidFill>
                  <a:srgbClr val="2A3341"/>
                </a:solidFill>
                <a:latin typeface="Aptos"/>
              </a:defRPr>
            </a:pPr>
            <a:r>
              <a:t>•  M6: reduce the design to gates and understand their physical basis.</a:t>
            </a:r>
          </a:p>
          <a:p>
            <a:pPr>
              <a:spcAft>
                <a:spcPts val="1000"/>
              </a:spcAft>
              <a:defRPr sz="1800">
                <a:solidFill>
                  <a:srgbClr val="2A3341"/>
                </a:solidFill>
                <a:latin typeface="Aptos"/>
              </a:defRPr>
            </a:pPr>
            <a:r>
              <a:t>•  Simulation verifies the design by checking all eight possible input combinations.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572000"/>
            <a:ext cx="6675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572000"/>
            <a:ext cx="73152" cy="1051560"/>
          </a:xfrm>
          <a:prstGeom prst="rect">
            <a:avLst/>
          </a:prstGeom>
          <a:solidFill>
            <a:srgbClr val="2D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4690872"/>
            <a:ext cx="6327648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4223E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5093208"/>
            <a:ext cx="6309359" cy="457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A3341"/>
                </a:solidFill>
                <a:latin typeface="Aptos"/>
              </a:defRPr>
            </a:pPr>
            <a:r>
              <a:t>RISC-V International: RISC-V specifications</a:t>
            </a:r>
            <a:br/>
            <a:r>
              <a:t>Logisim Evolution: project documentation</a:t>
            </a:r>
            <a:br/>
            <a:r>
              <a:t>Digital Design and Computer Architecture — Harris &amp; Harris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4892040"/>
            <a:ext cx="3474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100" b="1">
                <a:solidFill>
                  <a:srgbClr val="318B67"/>
                </a:solidFill>
                <a:latin typeface="Aptos"/>
              </a:defRPr>
            </a:pPr>
            <a: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