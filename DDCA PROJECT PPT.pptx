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128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128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128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128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4F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647763"/>
            <a:ext cx="9897110" cy="17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1282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0299" y="1257299"/>
            <a:ext cx="5562600" cy="4299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hyperlink" Target="https://riscv.org/technical/specificat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gisim-evolution/logisim-evolution" TargetMode="External"/><Relationship Id="rId2" Type="http://schemas.openxmlformats.org/officeDocument/2006/relationships/hyperlink" Target="https://riscv.org/technical/specificati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5324" y="771524"/>
            <a:ext cx="6581775" cy="4376967"/>
          </a:xfrm>
          <a:prstGeom prst="rect">
            <a:avLst/>
          </a:prstGeom>
          <a:solidFill>
            <a:srgbClr val="F4F0E6"/>
          </a:solidFill>
          <a:ln w="19049">
            <a:solidFill>
              <a:srgbClr val="21282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390525">
              <a:lnSpc>
                <a:spcPct val="100000"/>
              </a:lnSpc>
            </a:pPr>
            <a:r>
              <a:rPr sz="1250" b="1" spc="85" dirty="0">
                <a:solidFill>
                  <a:srgbClr val="212829"/>
                </a:solidFill>
                <a:latin typeface="Courier New"/>
                <a:cs typeface="Courier New"/>
              </a:rPr>
              <a:t>ENGINEERING</a:t>
            </a:r>
            <a:r>
              <a:rPr sz="1250" b="1" spc="21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5" dirty="0">
                <a:solidFill>
                  <a:srgbClr val="212829"/>
                </a:solidFill>
                <a:latin typeface="Courier New"/>
                <a:cs typeface="Courier New"/>
              </a:rPr>
              <a:t>DESIGN</a:t>
            </a:r>
            <a:r>
              <a:rPr sz="1250" b="1" spc="21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65" dirty="0">
                <a:solidFill>
                  <a:srgbClr val="212829"/>
                </a:solidFill>
                <a:latin typeface="Courier New"/>
                <a:cs typeface="Courier New"/>
              </a:rPr>
              <a:t>STORY</a:t>
            </a:r>
            <a:endParaRPr sz="12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50" dirty="0">
              <a:latin typeface="Courier New"/>
              <a:cs typeface="Courier New"/>
            </a:endParaRPr>
          </a:p>
          <a:p>
            <a:pPr marL="390525" marR="1087120">
              <a:lnSpc>
                <a:spcPct val="77300"/>
              </a:lnSpc>
            </a:pPr>
            <a:r>
              <a:rPr lang="en-IN" sz="3200" dirty="0">
                <a:latin typeface="Courier New"/>
                <a:cs typeface="Courier New"/>
              </a:rPr>
              <a:t>Design and Simulation of microprocessors using full adder</a:t>
            </a:r>
            <a:endParaRPr sz="3200" dirty="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1255"/>
              </a:spcBef>
            </a:pPr>
            <a:r>
              <a:rPr sz="1400" dirty="0">
                <a:solidFill>
                  <a:srgbClr val="212829"/>
                </a:solidFill>
                <a:latin typeface="Century Gothic"/>
                <a:cs typeface="Century Gothic"/>
              </a:rPr>
              <a:t>MAHITH</a:t>
            </a:r>
            <a:r>
              <a:rPr sz="1400" spc="5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50" dirty="0">
                <a:solidFill>
                  <a:srgbClr val="212829"/>
                </a:solidFill>
                <a:latin typeface="Century Gothic"/>
                <a:cs typeface="Century Gothic"/>
              </a:rPr>
              <a:t>-</a:t>
            </a:r>
            <a:r>
              <a:rPr sz="1400" spc="5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12829"/>
                </a:solidFill>
                <a:latin typeface="Century Gothic"/>
                <a:cs typeface="Century Gothic"/>
              </a:rPr>
              <a:t>2620040126</a:t>
            </a:r>
            <a:endParaRPr sz="1400" dirty="0">
              <a:latin typeface="Century Gothic"/>
              <a:cs typeface="Century Gothic"/>
            </a:endParaRPr>
          </a:p>
          <a:p>
            <a:pPr marL="390525">
              <a:lnSpc>
                <a:spcPct val="100000"/>
              </a:lnSpc>
              <a:spcBef>
                <a:spcPts val="270"/>
              </a:spcBef>
            </a:pPr>
            <a:r>
              <a:rPr sz="1400" spc="70" dirty="0">
                <a:solidFill>
                  <a:srgbClr val="212829"/>
                </a:solidFill>
                <a:latin typeface="Century Gothic"/>
                <a:cs typeface="Century Gothic"/>
              </a:rPr>
              <a:t>SAI</a:t>
            </a:r>
            <a:r>
              <a:rPr sz="14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10" dirty="0">
                <a:solidFill>
                  <a:srgbClr val="212829"/>
                </a:solidFill>
                <a:latin typeface="Century Gothic"/>
                <a:cs typeface="Century Gothic"/>
              </a:rPr>
              <a:t>CHARAN</a:t>
            </a:r>
            <a:r>
              <a:rPr sz="14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50" dirty="0">
                <a:solidFill>
                  <a:srgbClr val="212829"/>
                </a:solidFill>
                <a:latin typeface="Century Gothic"/>
                <a:cs typeface="Century Gothic"/>
              </a:rPr>
              <a:t>-</a:t>
            </a:r>
            <a:r>
              <a:rPr sz="14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12829"/>
                </a:solidFill>
                <a:latin typeface="Century Gothic"/>
                <a:cs typeface="Century Gothic"/>
              </a:rPr>
              <a:t>2620090144</a:t>
            </a:r>
            <a:endParaRPr sz="1400" dirty="0">
              <a:latin typeface="Century Gothic"/>
              <a:cs typeface="Century Gothic"/>
            </a:endParaRPr>
          </a:p>
          <a:p>
            <a:pPr marL="390525" marR="2357755">
              <a:lnSpc>
                <a:spcPct val="111600"/>
              </a:lnSpc>
            </a:pPr>
            <a:r>
              <a:rPr sz="1400" dirty="0">
                <a:solidFill>
                  <a:srgbClr val="212829"/>
                </a:solidFill>
                <a:latin typeface="Century Gothic"/>
                <a:cs typeface="Century Gothic"/>
              </a:rPr>
              <a:t>YATHISH</a:t>
            </a:r>
            <a:r>
              <a:rPr sz="1400" spc="7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10" dirty="0">
                <a:solidFill>
                  <a:srgbClr val="212829"/>
                </a:solidFill>
                <a:latin typeface="Century Gothic"/>
                <a:cs typeface="Century Gothic"/>
              </a:rPr>
              <a:t>CHANDRA</a:t>
            </a:r>
            <a:r>
              <a:rPr sz="1400" spc="8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35" dirty="0">
                <a:solidFill>
                  <a:srgbClr val="212829"/>
                </a:solidFill>
                <a:latin typeface="Century Gothic"/>
                <a:cs typeface="Century Gothic"/>
              </a:rPr>
              <a:t>CHOWDARY</a:t>
            </a:r>
            <a:r>
              <a:rPr sz="1400" spc="8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50" dirty="0">
                <a:solidFill>
                  <a:srgbClr val="212829"/>
                </a:solidFill>
                <a:latin typeface="Century Gothic"/>
                <a:cs typeface="Century Gothic"/>
              </a:rPr>
              <a:t>-</a:t>
            </a:r>
            <a:r>
              <a:rPr sz="1400" spc="8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55" dirty="0">
                <a:solidFill>
                  <a:srgbClr val="212829"/>
                </a:solidFill>
                <a:latin typeface="Century Gothic"/>
                <a:cs typeface="Century Gothic"/>
              </a:rPr>
              <a:t>2620040093 </a:t>
            </a:r>
            <a:r>
              <a:rPr sz="1400" spc="130" dirty="0">
                <a:solidFill>
                  <a:srgbClr val="212829"/>
                </a:solidFill>
                <a:latin typeface="Century Gothic"/>
                <a:cs typeface="Century Gothic"/>
              </a:rPr>
              <a:t>SRI</a:t>
            </a:r>
            <a:r>
              <a:rPr sz="14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-100" dirty="0">
                <a:solidFill>
                  <a:srgbClr val="212829"/>
                </a:solidFill>
                <a:latin typeface="Century Gothic"/>
                <a:cs typeface="Century Gothic"/>
              </a:rPr>
              <a:t>RAM</a:t>
            </a:r>
            <a:r>
              <a:rPr sz="14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50" dirty="0">
                <a:solidFill>
                  <a:srgbClr val="212829"/>
                </a:solidFill>
                <a:latin typeface="Century Gothic"/>
                <a:cs typeface="Century Gothic"/>
              </a:rPr>
              <a:t>-</a:t>
            </a:r>
            <a:r>
              <a:rPr sz="14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400" spc="40" dirty="0">
                <a:solidFill>
                  <a:srgbClr val="212829"/>
                </a:solidFill>
                <a:latin typeface="Century Gothic"/>
                <a:cs typeface="Century Gothic"/>
              </a:rPr>
              <a:t>2620030507</a:t>
            </a:r>
            <a:endParaRPr sz="14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400" dirty="0">
              <a:latin typeface="Century Gothic"/>
              <a:cs typeface="Century Gothic"/>
            </a:endParaRPr>
          </a:p>
          <a:p>
            <a:pPr marL="390525" marR="851535">
              <a:lnSpc>
                <a:spcPts val="2250"/>
              </a:lnSpc>
            </a:pP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From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spc="140" dirty="0">
                <a:solidFill>
                  <a:srgbClr val="212829"/>
                </a:solidFill>
                <a:latin typeface="Trebuchet MS"/>
                <a:cs typeface="Trebuchet MS"/>
              </a:rPr>
              <a:t>RISC-</a:t>
            </a:r>
            <a:r>
              <a:rPr sz="2000" b="1" spc="70" dirty="0">
                <a:solidFill>
                  <a:srgbClr val="212829"/>
                </a:solidFill>
                <a:latin typeface="Trebuchet MS"/>
                <a:cs typeface="Trebuchet MS"/>
              </a:rPr>
              <a:t>V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212829"/>
                </a:solidFill>
                <a:latin typeface="Trebuchet MS"/>
                <a:cs typeface="Trebuchet MS"/>
              </a:rPr>
              <a:t>architecture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to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a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verified</a:t>
            </a:r>
            <a:r>
              <a:rPr sz="2000" b="1" spc="-3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12829"/>
                </a:solidFill>
                <a:latin typeface="Trebuchet MS"/>
                <a:cs typeface="Trebuchet MS"/>
              </a:rPr>
              <a:t>gate-</a:t>
            </a: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level</a:t>
            </a:r>
            <a:r>
              <a:rPr sz="2000" b="1" spc="-5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12829"/>
                </a:solidFill>
                <a:latin typeface="Trebuchet MS"/>
                <a:cs typeface="Trebuchet MS"/>
              </a:rPr>
              <a:t>arithmetic</a:t>
            </a:r>
            <a:r>
              <a:rPr sz="2000" b="1" spc="-45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12829"/>
                </a:solidFill>
                <a:latin typeface="Trebuchet MS"/>
                <a:cs typeface="Trebuchet MS"/>
              </a:rPr>
              <a:t>circuit.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0612" y="5214937"/>
            <a:ext cx="1619250" cy="323850"/>
          </a:xfrm>
          <a:prstGeom prst="rect">
            <a:avLst/>
          </a:prstGeom>
          <a:solidFill>
            <a:srgbClr val="F4F0E6"/>
          </a:solidFill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ARCHITECTURE</a:t>
            </a:r>
            <a:endParaRPr sz="135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4162" y="5214937"/>
            <a:ext cx="1162050" cy="323850"/>
          </a:xfrm>
          <a:prstGeom prst="rect">
            <a:avLst/>
          </a:prstGeom>
          <a:solidFill>
            <a:srgbClr val="F4F0E6"/>
          </a:solidFill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DATAPATH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0512" y="5214937"/>
            <a:ext cx="1390650" cy="323850"/>
          </a:xfrm>
          <a:prstGeom prst="rect">
            <a:avLst/>
          </a:prstGeom>
          <a:solidFill>
            <a:srgbClr val="F4F0E6"/>
          </a:solidFill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ARITHMETIC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0612" y="5653087"/>
            <a:ext cx="1619250" cy="333375"/>
          </a:xfrm>
          <a:prstGeom prst="rect">
            <a:avLst/>
          </a:prstGeom>
          <a:solidFill>
            <a:srgbClr val="F4F0E6"/>
          </a:solidFill>
          <a:ln w="9524">
            <a:solidFill>
              <a:srgbClr val="212829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409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VERIFICATION</a:t>
            </a:r>
            <a:endParaRPr sz="1350" dirty="0">
              <a:latin typeface="Courier New"/>
              <a:cs typeface="Courier New"/>
            </a:endParaRPr>
          </a:p>
        </p:txBody>
      </p:sp>
      <p:pic>
        <p:nvPicPr>
          <p:cNvPr id="7" name="object 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6313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0" dirty="0">
                <a:solidFill>
                  <a:srgbClr val="212829"/>
                </a:solidFill>
                <a:latin typeface="Courier New"/>
                <a:cs typeface="Courier New"/>
              </a:rPr>
              <a:t>THE</a:t>
            </a:r>
            <a:r>
              <a:rPr sz="1250" b="1" spc="204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80" dirty="0">
                <a:solidFill>
                  <a:srgbClr val="212829"/>
                </a:solidFill>
                <a:latin typeface="Courier New"/>
                <a:cs typeface="Courier New"/>
              </a:rPr>
              <a:t>PROJECT</a:t>
            </a:r>
            <a:r>
              <a:rPr sz="1250" b="1" spc="204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35" dirty="0">
                <a:solidFill>
                  <a:srgbClr val="212829"/>
                </a:solidFill>
                <a:latin typeface="Courier New"/>
                <a:cs typeface="Courier New"/>
              </a:rPr>
              <a:t>ARC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93243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ONE</a:t>
            </a:r>
            <a:r>
              <a:rPr spc="-275" dirty="0"/>
              <a:t> </a:t>
            </a:r>
            <a:r>
              <a:rPr spc="50" dirty="0"/>
              <a:t>PROJECT,</a:t>
            </a:r>
            <a:r>
              <a:rPr spc="-275" dirty="0"/>
              <a:t> </a:t>
            </a:r>
            <a:r>
              <a:rPr spc="100" dirty="0"/>
              <a:t>SIX</a:t>
            </a:r>
            <a:r>
              <a:rPr spc="-275" dirty="0"/>
              <a:t> </a:t>
            </a:r>
            <a:r>
              <a:rPr spc="70" dirty="0"/>
              <a:t>MODULES,</a:t>
            </a:r>
            <a:r>
              <a:rPr spc="-275" dirty="0"/>
              <a:t> </a:t>
            </a:r>
            <a:r>
              <a:rPr spc="85" dirty="0"/>
              <a:t>ONE</a:t>
            </a:r>
            <a:r>
              <a:rPr spc="-275" dirty="0"/>
              <a:t> </a:t>
            </a:r>
            <a:r>
              <a:rPr spc="90" dirty="0"/>
              <a:t>ARITHMETIC</a:t>
            </a:r>
            <a:r>
              <a:rPr spc="-275" dirty="0"/>
              <a:t> </a:t>
            </a:r>
            <a:r>
              <a:rPr spc="50" dirty="0"/>
              <a:t>STORY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238313"/>
            <a:ext cx="87890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60" dirty="0">
                <a:solidFill>
                  <a:srgbClr val="212829"/>
                </a:solidFill>
                <a:latin typeface="Century Gothic"/>
                <a:cs typeface="Century Gothic"/>
              </a:rPr>
              <a:t>Each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50" dirty="0">
                <a:solidFill>
                  <a:srgbClr val="212829"/>
                </a:solidFill>
                <a:latin typeface="Century Gothic"/>
                <a:cs typeface="Century Gothic"/>
              </a:rPr>
              <a:t>module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50" dirty="0">
                <a:solidFill>
                  <a:srgbClr val="212829"/>
                </a:solidFill>
                <a:latin typeface="Century Gothic"/>
                <a:cs typeface="Century Gothic"/>
              </a:rPr>
              <a:t>adds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5" dirty="0">
                <a:solidFill>
                  <a:srgbClr val="212829"/>
                </a:solidFill>
                <a:latin typeface="Century Gothic"/>
                <a:cs typeface="Century Gothic"/>
              </a:rPr>
              <a:t>one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0" dirty="0">
                <a:solidFill>
                  <a:srgbClr val="212829"/>
                </a:solidFill>
                <a:latin typeface="Century Gothic"/>
                <a:cs typeface="Century Gothic"/>
              </a:rPr>
              <a:t>layer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0" dirty="0">
                <a:solidFill>
                  <a:srgbClr val="212829"/>
                </a:solidFill>
                <a:latin typeface="Century Gothic"/>
                <a:cs typeface="Century Gothic"/>
              </a:rPr>
              <a:t>of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5" dirty="0">
                <a:solidFill>
                  <a:srgbClr val="212829"/>
                </a:solidFill>
                <a:latin typeface="Century Gothic"/>
                <a:cs typeface="Century Gothic"/>
              </a:rPr>
              <a:t>understanding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until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full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5" dirty="0">
                <a:solidFill>
                  <a:srgbClr val="212829"/>
                </a:solidFill>
                <a:latin typeface="Century Gothic"/>
                <a:cs typeface="Century Gothic"/>
              </a:rPr>
              <a:t>adder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130" dirty="0">
                <a:solidFill>
                  <a:srgbClr val="212829"/>
                </a:solidFill>
                <a:latin typeface="Century Gothic"/>
                <a:cs typeface="Century Gothic"/>
              </a:rPr>
              <a:t>is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explainable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212829"/>
                </a:solidFill>
                <a:latin typeface="Century Gothic"/>
                <a:cs typeface="Century Gothic"/>
              </a:rPr>
              <a:t>testable.</a:t>
            </a:r>
            <a:endParaRPr sz="1700">
              <a:latin typeface="Century Gothic"/>
              <a:cs typeface="Century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7200" y="1724025"/>
          <a:ext cx="11277600" cy="2399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9515">
                <a:tc>
                  <a:txBody>
                    <a:bodyPr/>
                    <a:lstStyle/>
                    <a:p>
                      <a:pPr>
                        <a:lnSpc>
                          <a:spcPts val="1839"/>
                        </a:lnSpc>
                      </a:pPr>
                      <a:r>
                        <a:rPr sz="1700" b="1" spc="-25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M1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R="839469">
                        <a:lnSpc>
                          <a:spcPct val="113999"/>
                        </a:lnSpc>
                        <a:spcBef>
                          <a:spcPts val="900"/>
                        </a:spcBef>
                      </a:pPr>
                      <a:r>
                        <a:rPr sz="1700" spc="-15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Computer</a:t>
                      </a:r>
                      <a:r>
                        <a:rPr sz="1700" spc="5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1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architecture</a:t>
                      </a:r>
                      <a:r>
                        <a:rPr sz="1700" spc="5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700" spc="5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7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70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RISC-</a:t>
                      </a:r>
                      <a:r>
                        <a:rPr sz="1700" spc="-19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V</a:t>
                      </a:r>
                      <a:r>
                        <a:rPr sz="1700" spc="25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ALU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R w="9525">
                      <a:solidFill>
                        <a:srgbClr val="212829"/>
                      </a:solidFill>
                      <a:prstDash val="solid"/>
                    </a:lnR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ts val="1839"/>
                        </a:lnSpc>
                      </a:pPr>
                      <a:r>
                        <a:rPr sz="1700" b="1" spc="45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M2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700" spc="-18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Datapath</a:t>
                      </a:r>
                      <a:r>
                        <a:rPr sz="1700" spc="2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700" spc="2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9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control</a:t>
                      </a:r>
                      <a:r>
                        <a:rPr sz="1700" spc="3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signals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839"/>
                        </a:lnSpc>
                      </a:pPr>
                      <a:r>
                        <a:rPr sz="1700" b="1" spc="60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M3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L="2311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700" spc="-1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Storage,</a:t>
                      </a:r>
                      <a:r>
                        <a:rPr sz="170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registers,</a:t>
                      </a:r>
                      <a:r>
                        <a:rPr sz="170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700" spc="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state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700" b="1" spc="80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M4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R="888365">
                        <a:lnSpc>
                          <a:spcPct val="113999"/>
                        </a:lnSpc>
                        <a:spcBef>
                          <a:spcPts val="900"/>
                        </a:spcBef>
                      </a:pPr>
                      <a:r>
                        <a:rPr sz="1700" spc="-1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Adders</a:t>
                      </a:r>
                      <a:r>
                        <a:rPr sz="1700" spc="4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700" spc="4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7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two's-</a:t>
                      </a:r>
                      <a:r>
                        <a:rPr sz="1700" spc="-14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complement 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arithmetic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203200" marB="0"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700" b="1" spc="70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L="224790" marR="549275">
                        <a:lnSpc>
                          <a:spcPct val="113999"/>
                        </a:lnSpc>
                        <a:spcBef>
                          <a:spcPts val="900"/>
                        </a:spcBef>
                      </a:pPr>
                      <a:r>
                        <a:rPr sz="1700" spc="-12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Boolean</a:t>
                      </a:r>
                      <a:r>
                        <a:rPr sz="1700" spc="6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16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algebra</a:t>
                      </a:r>
                      <a:r>
                        <a:rPr sz="1700" spc="6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2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700" spc="6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7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logic-</a:t>
                      </a:r>
                      <a:r>
                        <a:rPr sz="1700" spc="-13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gate 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design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20320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700" b="1" spc="85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M6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  <a:p>
                      <a:pPr marL="231140" marR="884555">
                        <a:lnSpc>
                          <a:spcPct val="113999"/>
                        </a:lnSpc>
                        <a:spcBef>
                          <a:spcPts val="900"/>
                        </a:spcBef>
                      </a:pPr>
                      <a:r>
                        <a:rPr sz="1700" spc="-5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Simulation,</a:t>
                      </a:r>
                      <a:r>
                        <a:rPr sz="1700" spc="-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7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verification,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15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integration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203200" marB="0">
                    <a:lnL w="9525">
                      <a:solidFill>
                        <a:srgbClr val="212829"/>
                      </a:solidFill>
                      <a:prstDash val="solid"/>
                    </a:lnL>
                    <a:lnT w="9525">
                      <a:solidFill>
                        <a:srgbClr val="21282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object 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8472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M1</a:t>
            </a:r>
            <a:r>
              <a:rPr sz="1250" b="1" spc="19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5" dirty="0">
                <a:solidFill>
                  <a:srgbClr val="212829"/>
                </a:solidFill>
                <a:latin typeface="Courier New"/>
                <a:cs typeface="Courier New"/>
              </a:rPr>
              <a:t>ARCHITECTURE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2644775" cy="174561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ct val="83500"/>
              </a:lnSpc>
              <a:spcBef>
                <a:spcPts val="615"/>
              </a:spcBef>
            </a:pPr>
            <a:r>
              <a:rPr spc="110" dirty="0"/>
              <a:t>THE</a:t>
            </a:r>
            <a:r>
              <a:rPr spc="-280" dirty="0"/>
              <a:t> </a:t>
            </a:r>
            <a:r>
              <a:rPr spc="50" dirty="0"/>
              <a:t>CPU </a:t>
            </a:r>
            <a:r>
              <a:rPr spc="90" dirty="0"/>
              <a:t>TURNS </a:t>
            </a:r>
            <a:r>
              <a:rPr spc="75" dirty="0"/>
              <a:t>INSTRUCTIONS </a:t>
            </a:r>
            <a:r>
              <a:rPr spc="90" dirty="0"/>
              <a:t>INTO</a:t>
            </a:r>
            <a:r>
              <a:rPr spc="-275" dirty="0"/>
              <a:t> </a:t>
            </a:r>
            <a:r>
              <a:rPr spc="-20" dirty="0"/>
              <a:t>DATA </a:t>
            </a:r>
            <a:r>
              <a:rPr spc="90" dirty="0"/>
              <a:t>MOVEMENT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2516492"/>
            <a:ext cx="2672080" cy="2073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125"/>
              </a:spcBef>
            </a:pP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Instruction</a:t>
            </a:r>
            <a:r>
              <a:rPr sz="1700" spc="-3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memory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provides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2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operation.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Registers</a:t>
            </a:r>
            <a:r>
              <a:rPr sz="1700" spc="-5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provide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operands.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-8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ALU</a:t>
            </a:r>
            <a:r>
              <a:rPr sz="1700" spc="-8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performs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arithmetic</a:t>
            </a:r>
            <a:r>
              <a:rPr sz="1700" spc="-4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or</a:t>
            </a:r>
            <a:r>
              <a:rPr sz="1700" spc="-8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0" dirty="0">
                <a:solidFill>
                  <a:srgbClr val="212829"/>
                </a:solidFill>
                <a:latin typeface="Century Gothic"/>
                <a:cs typeface="Century Gothic"/>
              </a:rPr>
              <a:t>logic.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Results </a:t>
            </a:r>
            <a:r>
              <a:rPr sz="1700" spc="-50" dirty="0">
                <a:solidFill>
                  <a:srgbClr val="212829"/>
                </a:solidFill>
                <a:latin typeface="Century Gothic"/>
                <a:cs typeface="Century Gothic"/>
              </a:rPr>
              <a:t>return</a:t>
            </a:r>
            <a:r>
              <a:rPr sz="1700" spc="-5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to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registers</a:t>
            </a:r>
            <a:r>
              <a:rPr sz="1700" spc="-4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5" dirty="0">
                <a:solidFill>
                  <a:srgbClr val="212829"/>
                </a:solidFill>
                <a:latin typeface="Century Gothic"/>
                <a:cs typeface="Century Gothic"/>
              </a:rPr>
              <a:t>or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memory.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94555" y="1979917"/>
            <a:ext cx="7079615" cy="2891790"/>
          </a:xfrm>
          <a:custGeom>
            <a:avLst/>
            <a:gdLst/>
            <a:ahLst/>
            <a:cxnLst/>
            <a:rect l="l" t="t" r="r" b="b"/>
            <a:pathLst>
              <a:path w="7079615" h="2891790">
                <a:moveTo>
                  <a:pt x="5216042" y="347179"/>
                </a:moveTo>
                <a:lnTo>
                  <a:pt x="4861839" y="0"/>
                </a:lnTo>
                <a:lnTo>
                  <a:pt x="4861839" y="87350"/>
                </a:lnTo>
                <a:lnTo>
                  <a:pt x="12" y="87350"/>
                </a:lnTo>
                <a:lnTo>
                  <a:pt x="12" y="607009"/>
                </a:lnTo>
                <a:lnTo>
                  <a:pt x="4861839" y="607009"/>
                </a:lnTo>
                <a:lnTo>
                  <a:pt x="4861839" y="694347"/>
                </a:lnTo>
                <a:lnTo>
                  <a:pt x="5216042" y="347179"/>
                </a:lnTo>
                <a:close/>
              </a:path>
              <a:path w="7079615" h="2891790">
                <a:moveTo>
                  <a:pt x="5817362" y="1080389"/>
                </a:moveTo>
                <a:lnTo>
                  <a:pt x="5463159" y="733209"/>
                </a:lnTo>
                <a:lnTo>
                  <a:pt x="5463159" y="822299"/>
                </a:lnTo>
                <a:lnTo>
                  <a:pt x="0" y="822299"/>
                </a:lnTo>
                <a:lnTo>
                  <a:pt x="0" y="1341958"/>
                </a:lnTo>
                <a:lnTo>
                  <a:pt x="5463159" y="1341958"/>
                </a:lnTo>
                <a:lnTo>
                  <a:pt x="5463159" y="1427568"/>
                </a:lnTo>
                <a:lnTo>
                  <a:pt x="5817362" y="1080389"/>
                </a:lnTo>
                <a:close/>
              </a:path>
              <a:path w="7079615" h="2891790">
                <a:moveTo>
                  <a:pt x="6411265" y="1811858"/>
                </a:moveTo>
                <a:lnTo>
                  <a:pt x="6057062" y="1464678"/>
                </a:lnTo>
                <a:lnTo>
                  <a:pt x="6057062" y="1551559"/>
                </a:lnTo>
                <a:lnTo>
                  <a:pt x="0" y="1551559"/>
                </a:lnTo>
                <a:lnTo>
                  <a:pt x="0" y="2071230"/>
                </a:lnTo>
                <a:lnTo>
                  <a:pt x="6057062" y="2071230"/>
                </a:lnTo>
                <a:lnTo>
                  <a:pt x="6057062" y="2159038"/>
                </a:lnTo>
                <a:lnTo>
                  <a:pt x="6411265" y="1811858"/>
                </a:lnTo>
                <a:close/>
              </a:path>
              <a:path w="7079615" h="2891790">
                <a:moveTo>
                  <a:pt x="7079399" y="2544610"/>
                </a:moveTo>
                <a:lnTo>
                  <a:pt x="6725196" y="2197430"/>
                </a:lnTo>
                <a:lnTo>
                  <a:pt x="6725196" y="2286508"/>
                </a:lnTo>
                <a:lnTo>
                  <a:pt x="0" y="2286508"/>
                </a:lnTo>
                <a:lnTo>
                  <a:pt x="0" y="2806179"/>
                </a:lnTo>
                <a:lnTo>
                  <a:pt x="6725196" y="2806179"/>
                </a:lnTo>
                <a:lnTo>
                  <a:pt x="6725196" y="2891777"/>
                </a:lnTo>
                <a:lnTo>
                  <a:pt x="7079399" y="2544610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37482" y="2188894"/>
            <a:ext cx="205486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50" dirty="0">
                <a:solidFill>
                  <a:srgbClr val="FFFFFF"/>
                </a:solidFill>
                <a:latin typeface="Arial"/>
                <a:cs typeface="Arial"/>
              </a:rPr>
              <a:t>INSTRUCTION</a:t>
            </a:r>
            <a:r>
              <a:rPr sz="13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7482" y="2925150"/>
            <a:ext cx="133667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1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3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7482" y="3654044"/>
            <a:ext cx="132270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REGISTER</a:t>
            </a:r>
            <a:r>
              <a:rPr sz="13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7482" y="4382939"/>
            <a:ext cx="319849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ALU</a:t>
            </a:r>
            <a:r>
              <a:rPr sz="13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3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3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60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r>
              <a:rPr sz="13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3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WRITE-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199" y="4791074"/>
            <a:ext cx="2647950" cy="752475"/>
          </a:xfrm>
          <a:prstGeom prst="rect">
            <a:avLst/>
          </a:prstGeom>
          <a:solidFill>
            <a:srgbClr val="D3E6F7"/>
          </a:solidFill>
        </p:spPr>
        <p:txBody>
          <a:bodyPr vert="horz" wrap="square" lIns="0" tIns="53340" rIns="0" bIns="0" rtlCol="0">
            <a:spAutoFit/>
          </a:bodyPr>
          <a:lstStyle/>
          <a:p>
            <a:pPr marL="128905" marR="241935">
              <a:lnSpc>
                <a:spcPct val="101899"/>
              </a:lnSpc>
              <a:spcBef>
                <a:spcPts val="420"/>
              </a:spcBef>
            </a:pPr>
            <a:r>
              <a:rPr sz="1350" b="1" spc="70" dirty="0">
                <a:solidFill>
                  <a:srgbClr val="212829"/>
                </a:solidFill>
                <a:latin typeface="Courier New"/>
                <a:cs typeface="Courier New"/>
              </a:rPr>
              <a:t>INSTRUCTION</a:t>
            </a:r>
            <a:r>
              <a:rPr sz="1350" b="1" spc="18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-50" dirty="0">
                <a:solidFill>
                  <a:srgbClr val="212829"/>
                </a:solidFill>
                <a:latin typeface="Courier New"/>
                <a:cs typeface="Courier New"/>
              </a:rPr>
              <a:t>→ </a:t>
            </a:r>
            <a:r>
              <a:rPr sz="1350" b="1" spc="70" dirty="0">
                <a:solidFill>
                  <a:srgbClr val="212829"/>
                </a:solidFill>
                <a:latin typeface="Courier New"/>
                <a:cs typeface="Courier New"/>
              </a:rPr>
              <a:t>OPERANDS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→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OPERATION</a:t>
            </a:r>
            <a:endParaRPr sz="1350">
              <a:latin typeface="Courier New"/>
              <a:cs typeface="Courier New"/>
            </a:endParaRPr>
          </a:p>
          <a:p>
            <a:pPr marL="128905">
              <a:lnSpc>
                <a:spcPts val="1575"/>
              </a:lnSpc>
            </a:pP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→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55" dirty="0">
                <a:solidFill>
                  <a:srgbClr val="212829"/>
                </a:solidFill>
                <a:latin typeface="Courier New"/>
                <a:cs typeface="Courier New"/>
              </a:rPr>
              <a:t>RESULT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11" name="object 11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7392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M1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60" dirty="0">
                <a:solidFill>
                  <a:srgbClr val="212829"/>
                </a:solidFill>
                <a:latin typeface="Courier New"/>
                <a:cs typeface="Courier New"/>
              </a:rPr>
              <a:t>ALU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0" dirty="0">
                <a:solidFill>
                  <a:srgbClr val="212829"/>
                </a:solidFill>
                <a:latin typeface="Courier New"/>
                <a:cs typeface="Courier New"/>
              </a:rPr>
              <a:t>CONTEXT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3451860" cy="108839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595"/>
              </a:spcBef>
            </a:pPr>
            <a:r>
              <a:rPr spc="110" dirty="0"/>
              <a:t>THE</a:t>
            </a:r>
            <a:r>
              <a:rPr spc="-254" dirty="0"/>
              <a:t> </a:t>
            </a:r>
            <a:r>
              <a:rPr dirty="0"/>
              <a:t>RISC-</a:t>
            </a:r>
            <a:r>
              <a:rPr spc="155" dirty="0"/>
              <a:t>V</a:t>
            </a:r>
            <a:r>
              <a:rPr spc="-254" dirty="0"/>
              <a:t> </a:t>
            </a:r>
            <a:r>
              <a:rPr spc="-25" dirty="0"/>
              <a:t>ALU </a:t>
            </a:r>
            <a:r>
              <a:rPr spc="65" dirty="0"/>
              <a:t>NEEDS</a:t>
            </a:r>
            <a:r>
              <a:rPr spc="-280" dirty="0"/>
              <a:t> </a:t>
            </a:r>
            <a:r>
              <a:rPr spc="80" dirty="0"/>
              <a:t>ADDITION</a:t>
            </a:r>
            <a:r>
              <a:rPr spc="-275" dirty="0"/>
              <a:t> </a:t>
            </a:r>
            <a:r>
              <a:rPr spc="-25" dirty="0"/>
              <a:t>AT </a:t>
            </a:r>
            <a:r>
              <a:rPr spc="95" dirty="0"/>
              <a:t>ITS</a:t>
            </a:r>
            <a:r>
              <a:rPr spc="-280" dirty="0"/>
              <a:t> </a:t>
            </a:r>
            <a:r>
              <a:rPr spc="65" dirty="0"/>
              <a:t>CENTER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859267"/>
            <a:ext cx="3442970" cy="2884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125"/>
              </a:spcBef>
            </a:pPr>
            <a:r>
              <a:rPr sz="1700" spc="-55" dirty="0">
                <a:solidFill>
                  <a:srgbClr val="212829"/>
                </a:solidFill>
                <a:latin typeface="Century Gothic"/>
                <a:cs typeface="Century Gothic"/>
              </a:rPr>
              <a:t>Integer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5" dirty="0">
                <a:solidFill>
                  <a:srgbClr val="212829"/>
                </a:solidFill>
                <a:latin typeface="Century Gothic"/>
                <a:cs typeface="Century Gothic"/>
              </a:rPr>
              <a:t>instructions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0" dirty="0">
                <a:solidFill>
                  <a:srgbClr val="212829"/>
                </a:solidFill>
                <a:latin typeface="Century Gothic"/>
                <a:cs typeface="Century Gothic"/>
              </a:rPr>
              <a:t>include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add, </a:t>
            </a:r>
            <a:r>
              <a:rPr sz="1700" spc="-105" dirty="0">
                <a:solidFill>
                  <a:srgbClr val="212829"/>
                </a:solidFill>
                <a:latin typeface="Century Gothic"/>
                <a:cs typeface="Century Gothic"/>
              </a:rPr>
              <a:t>subtract,</a:t>
            </a:r>
            <a:r>
              <a:rPr sz="1700" spc="-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comparisons.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-5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5" dirty="0">
                <a:solidFill>
                  <a:srgbClr val="212829"/>
                </a:solidFill>
                <a:latin typeface="Century Gothic"/>
                <a:cs typeface="Century Gothic"/>
              </a:rPr>
              <a:t>ALU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receives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40" dirty="0">
                <a:solidFill>
                  <a:srgbClr val="212829"/>
                </a:solidFill>
                <a:latin typeface="Century Gothic"/>
                <a:cs typeface="Century Gothic"/>
              </a:rPr>
              <a:t>operands</a:t>
            </a:r>
            <a:r>
              <a:rPr sz="1700" spc="2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2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65" dirty="0">
                <a:solidFill>
                  <a:srgbClr val="212829"/>
                </a:solidFill>
                <a:latin typeface="Century Gothic"/>
                <a:cs typeface="Century Gothic"/>
              </a:rPr>
              <a:t>B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plus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control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signals.</a:t>
            </a:r>
            <a:endParaRPr sz="1700">
              <a:latin typeface="Century Gothic"/>
              <a:cs typeface="Century Gothic"/>
            </a:endParaRPr>
          </a:p>
          <a:p>
            <a:pPr marL="12700" marR="135890">
              <a:lnSpc>
                <a:spcPct val="112100"/>
              </a:lnSpc>
              <a:spcBef>
                <a:spcPts val="1390"/>
              </a:spcBef>
            </a:pPr>
            <a:r>
              <a:rPr sz="1700" b="1" dirty="0">
                <a:solidFill>
                  <a:srgbClr val="212829"/>
                </a:solidFill>
                <a:latin typeface="Trebuchet MS"/>
                <a:cs typeface="Trebuchet MS"/>
              </a:rPr>
              <a:t>Why</a:t>
            </a:r>
            <a:r>
              <a:rPr sz="1700" b="1" spc="45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12829"/>
                </a:solidFill>
                <a:latin typeface="Trebuchet MS"/>
                <a:cs typeface="Trebuchet MS"/>
              </a:rPr>
              <a:t>start</a:t>
            </a:r>
            <a:r>
              <a:rPr sz="1700" b="1" spc="5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212829"/>
                </a:solidFill>
                <a:latin typeface="Trebuchet MS"/>
                <a:cs typeface="Trebuchet MS"/>
              </a:rPr>
              <a:t>with</a:t>
            </a:r>
            <a:r>
              <a:rPr sz="1700" b="1" spc="5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12829"/>
                </a:solidFill>
                <a:latin typeface="Trebuchet MS"/>
                <a:cs typeface="Trebuchet MS"/>
              </a:rPr>
              <a:t>a</a:t>
            </a:r>
            <a:r>
              <a:rPr sz="1700" b="1" spc="5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12829"/>
                </a:solidFill>
                <a:latin typeface="Trebuchet MS"/>
                <a:cs typeface="Trebuchet MS"/>
              </a:rPr>
              <a:t>full</a:t>
            </a:r>
            <a:r>
              <a:rPr sz="1700" b="1" spc="45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12829"/>
                </a:solidFill>
                <a:latin typeface="Trebuchet MS"/>
                <a:cs typeface="Trebuchet MS"/>
              </a:rPr>
              <a:t>adder?</a:t>
            </a:r>
            <a:r>
              <a:rPr sz="1700" b="1" spc="-20" dirty="0">
                <a:solidFill>
                  <a:srgbClr val="212829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212829"/>
                </a:solidFill>
                <a:latin typeface="Century Gothic"/>
                <a:cs typeface="Century Gothic"/>
              </a:rPr>
              <a:t>It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105" dirty="0">
                <a:solidFill>
                  <a:srgbClr val="212829"/>
                </a:solidFill>
                <a:latin typeface="Century Gothic"/>
                <a:cs typeface="Century Gothic"/>
              </a:rPr>
              <a:t>is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one-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bit</a:t>
            </a:r>
            <a:r>
              <a:rPr sz="1700" spc="-3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building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5" dirty="0">
                <a:solidFill>
                  <a:srgbClr val="212829"/>
                </a:solidFill>
                <a:latin typeface="Century Gothic"/>
                <a:cs typeface="Century Gothic"/>
              </a:rPr>
              <a:t>block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behind </a:t>
            </a:r>
            <a:r>
              <a:rPr sz="1700" spc="-105" dirty="0">
                <a:solidFill>
                  <a:srgbClr val="212829"/>
                </a:solidFill>
                <a:latin typeface="Century Gothic"/>
                <a:cs typeface="Century Gothic"/>
              </a:rPr>
              <a:t>wider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addition.</a:t>
            </a:r>
            <a:endParaRPr sz="1700">
              <a:latin typeface="Century Gothic"/>
              <a:cs typeface="Century Gothic"/>
            </a:endParaRPr>
          </a:p>
          <a:p>
            <a:pPr marL="12700" marR="257810">
              <a:lnSpc>
                <a:spcPct val="111100"/>
              </a:lnSpc>
              <a:spcBef>
                <a:spcPts val="1430"/>
              </a:spcBef>
            </a:pPr>
            <a:r>
              <a:rPr sz="1350" spc="50" dirty="0">
                <a:solidFill>
                  <a:srgbClr val="5D6263"/>
                </a:solidFill>
                <a:latin typeface="Century Gothic"/>
                <a:cs typeface="Century Gothic"/>
              </a:rPr>
              <a:t>RISC-</a:t>
            </a:r>
            <a:r>
              <a:rPr sz="1350" spc="-170" dirty="0">
                <a:solidFill>
                  <a:srgbClr val="5D6263"/>
                </a:solidFill>
                <a:latin typeface="Century Gothic"/>
                <a:cs typeface="Century Gothic"/>
              </a:rPr>
              <a:t>V</a:t>
            </a:r>
            <a:r>
              <a:rPr sz="1350" spc="4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80" dirty="0">
                <a:solidFill>
                  <a:srgbClr val="5D6263"/>
                </a:solidFill>
                <a:latin typeface="Century Gothic"/>
                <a:cs typeface="Century Gothic"/>
              </a:rPr>
              <a:t>ISA</a:t>
            </a:r>
            <a:r>
              <a:rPr sz="1350" spc="4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0" dirty="0">
                <a:solidFill>
                  <a:srgbClr val="5D6263"/>
                </a:solidFill>
                <a:latin typeface="Century Gothic"/>
                <a:cs typeface="Century Gothic"/>
              </a:rPr>
              <a:t>reference: </a:t>
            </a:r>
            <a:r>
              <a:rPr sz="1350" spc="-60" dirty="0">
                <a:solidFill>
                  <a:srgbClr val="5D6263"/>
                </a:solidFill>
                <a:latin typeface="Century Gothic"/>
                <a:cs typeface="Century Gothic"/>
                <a:hlinkClick r:id="rId2"/>
              </a:rPr>
              <a:t>https://riscv.org/technical/specifications/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1755" y="2127452"/>
            <a:ext cx="6360160" cy="2597785"/>
          </a:xfrm>
          <a:custGeom>
            <a:avLst/>
            <a:gdLst/>
            <a:ahLst/>
            <a:cxnLst/>
            <a:rect l="l" t="t" r="r" b="b"/>
            <a:pathLst>
              <a:path w="6360159" h="2597785">
                <a:moveTo>
                  <a:pt x="4685703" y="311873"/>
                </a:moveTo>
                <a:lnTo>
                  <a:pt x="4367517" y="0"/>
                </a:lnTo>
                <a:lnTo>
                  <a:pt x="4367517" y="78460"/>
                </a:lnTo>
                <a:lnTo>
                  <a:pt x="0" y="78460"/>
                </a:lnTo>
                <a:lnTo>
                  <a:pt x="0" y="545287"/>
                </a:lnTo>
                <a:lnTo>
                  <a:pt x="4367517" y="545287"/>
                </a:lnTo>
                <a:lnTo>
                  <a:pt x="4367517" y="623747"/>
                </a:lnTo>
                <a:lnTo>
                  <a:pt x="4685703" y="311873"/>
                </a:lnTo>
                <a:close/>
              </a:path>
              <a:path w="6360159" h="2597785">
                <a:moveTo>
                  <a:pt x="5225885" y="970534"/>
                </a:moveTo>
                <a:lnTo>
                  <a:pt x="4907699" y="658660"/>
                </a:lnTo>
                <a:lnTo>
                  <a:pt x="4907699" y="738682"/>
                </a:lnTo>
                <a:lnTo>
                  <a:pt x="0" y="738682"/>
                </a:lnTo>
                <a:lnTo>
                  <a:pt x="0" y="1205509"/>
                </a:lnTo>
                <a:lnTo>
                  <a:pt x="4907699" y="1205509"/>
                </a:lnTo>
                <a:lnTo>
                  <a:pt x="4907699" y="1282407"/>
                </a:lnTo>
                <a:lnTo>
                  <a:pt x="5225885" y="970534"/>
                </a:lnTo>
                <a:close/>
              </a:path>
              <a:path w="6360159" h="2597785">
                <a:moveTo>
                  <a:pt x="5759399" y="1627632"/>
                </a:moveTo>
                <a:lnTo>
                  <a:pt x="5441213" y="1315758"/>
                </a:lnTo>
                <a:lnTo>
                  <a:pt x="5441213" y="1393799"/>
                </a:lnTo>
                <a:lnTo>
                  <a:pt x="0" y="1393799"/>
                </a:lnTo>
                <a:lnTo>
                  <a:pt x="0" y="1860626"/>
                </a:lnTo>
                <a:lnTo>
                  <a:pt x="5441213" y="1860626"/>
                </a:lnTo>
                <a:lnTo>
                  <a:pt x="5441213" y="1939505"/>
                </a:lnTo>
                <a:lnTo>
                  <a:pt x="5759399" y="1627632"/>
                </a:lnTo>
                <a:close/>
              </a:path>
              <a:path w="6360159" h="2597785">
                <a:moveTo>
                  <a:pt x="6359601" y="2285885"/>
                </a:moveTo>
                <a:lnTo>
                  <a:pt x="6041415" y="1973999"/>
                </a:lnTo>
                <a:lnTo>
                  <a:pt x="6041415" y="2054021"/>
                </a:lnTo>
                <a:lnTo>
                  <a:pt x="0" y="2054021"/>
                </a:lnTo>
                <a:lnTo>
                  <a:pt x="0" y="2520848"/>
                </a:lnTo>
                <a:lnTo>
                  <a:pt x="6041415" y="2520848"/>
                </a:lnTo>
                <a:lnTo>
                  <a:pt x="6041415" y="2597759"/>
                </a:lnTo>
                <a:lnTo>
                  <a:pt x="6359601" y="2285885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58515" y="2313883"/>
            <a:ext cx="103441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65" dirty="0">
                <a:solidFill>
                  <a:srgbClr val="FFFFFF"/>
                </a:solidFill>
                <a:latin typeface="Arial"/>
                <a:cs typeface="Arial"/>
              </a:rPr>
              <a:t>INPUTS</a:t>
            </a:r>
            <a:r>
              <a:rPr sz="115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5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8515" y="2975283"/>
            <a:ext cx="8121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ALU</a:t>
            </a:r>
            <a:r>
              <a:rPr sz="11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8515" y="3630067"/>
            <a:ext cx="14458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60" dirty="0">
                <a:solidFill>
                  <a:srgbClr val="FFFFFF"/>
                </a:solidFill>
                <a:latin typeface="Arial"/>
                <a:cs typeface="Arial"/>
              </a:rPr>
              <a:t>ARITHMETIC</a:t>
            </a:r>
            <a:r>
              <a:rPr sz="11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Arial"/>
                <a:cs typeface="Arial"/>
              </a:rPr>
              <a:t>PATH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8515" y="4284852"/>
            <a:ext cx="132842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0" dirty="0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sz="11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FFFFFF"/>
                </a:solidFill>
                <a:latin typeface="Arial"/>
                <a:cs typeface="Arial"/>
              </a:rPr>
              <a:t>FLAGS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4154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M2</a:t>
            </a:r>
            <a:r>
              <a:rPr sz="1250" b="1" spc="18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0" dirty="0">
                <a:solidFill>
                  <a:srgbClr val="212829"/>
                </a:solidFill>
                <a:latin typeface="Courier New"/>
                <a:cs typeface="Courier New"/>
              </a:rPr>
              <a:t>DATAPATH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743965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DATAPATH:</a:t>
            </a:r>
            <a:r>
              <a:rPr spc="-260" dirty="0"/>
              <a:t> </a:t>
            </a:r>
            <a:r>
              <a:rPr spc="65" dirty="0"/>
              <a:t>WHERE</a:t>
            </a:r>
            <a:r>
              <a:rPr spc="-260" dirty="0"/>
              <a:t> </a:t>
            </a:r>
            <a:r>
              <a:rPr spc="110" dirty="0"/>
              <a:t>THE</a:t>
            </a:r>
            <a:r>
              <a:rPr spc="-260" dirty="0"/>
              <a:t> </a:t>
            </a:r>
            <a:r>
              <a:rPr spc="55" dirty="0"/>
              <a:t>OPERANDS</a:t>
            </a:r>
            <a:r>
              <a:rPr spc="-260" dirty="0"/>
              <a:t> </a:t>
            </a:r>
            <a:r>
              <a:rPr spc="-10" dirty="0"/>
              <a:t>TRAVEL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238313"/>
            <a:ext cx="46132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-5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90" dirty="0">
                <a:solidFill>
                  <a:srgbClr val="212829"/>
                </a:solidFill>
                <a:latin typeface="Century Gothic"/>
                <a:cs typeface="Century Gothic"/>
              </a:rPr>
              <a:t>datapath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4" dirty="0">
                <a:solidFill>
                  <a:srgbClr val="212829"/>
                </a:solidFill>
                <a:latin typeface="Century Gothic"/>
                <a:cs typeface="Century Gothic"/>
              </a:rPr>
              <a:t>makes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arithmetic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route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visible.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46463" y="1893926"/>
            <a:ext cx="6259195" cy="833755"/>
          </a:xfrm>
          <a:custGeom>
            <a:avLst/>
            <a:gdLst/>
            <a:ahLst/>
            <a:cxnLst/>
            <a:rect l="l" t="t" r="r" b="b"/>
            <a:pathLst>
              <a:path w="6259195" h="833755">
                <a:moveTo>
                  <a:pt x="5834062" y="833199"/>
                </a:moveTo>
                <a:lnTo>
                  <a:pt x="5834062" y="728393"/>
                </a:lnTo>
                <a:lnTo>
                  <a:pt x="0" y="728393"/>
                </a:lnTo>
                <a:lnTo>
                  <a:pt x="0" y="104814"/>
                </a:lnTo>
                <a:lnTo>
                  <a:pt x="5834062" y="104814"/>
                </a:lnTo>
                <a:lnTo>
                  <a:pt x="5834062" y="0"/>
                </a:lnTo>
                <a:lnTo>
                  <a:pt x="6259094" y="416604"/>
                </a:lnTo>
                <a:lnTo>
                  <a:pt x="5834062" y="833199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60483" y="2147237"/>
            <a:ext cx="15817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5" dirty="0">
                <a:solidFill>
                  <a:srgbClr val="FFFFFF"/>
                </a:solidFill>
                <a:latin typeface="Arial"/>
                <a:cs typeface="Arial"/>
              </a:rPr>
              <a:t>REGISTER</a:t>
            </a:r>
            <a:r>
              <a:rPr sz="155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6454" y="2773760"/>
            <a:ext cx="6981190" cy="833755"/>
          </a:xfrm>
          <a:custGeom>
            <a:avLst/>
            <a:gdLst/>
            <a:ahLst/>
            <a:cxnLst/>
            <a:rect l="l" t="t" r="r" b="b"/>
            <a:pathLst>
              <a:path w="6981190" h="833754">
                <a:moveTo>
                  <a:pt x="6555633" y="833199"/>
                </a:moveTo>
                <a:lnTo>
                  <a:pt x="6555633" y="730478"/>
                </a:lnTo>
                <a:lnTo>
                  <a:pt x="0" y="730478"/>
                </a:lnTo>
                <a:lnTo>
                  <a:pt x="0" y="106899"/>
                </a:lnTo>
                <a:lnTo>
                  <a:pt x="6555633" y="106899"/>
                </a:lnTo>
                <a:lnTo>
                  <a:pt x="6555633" y="0"/>
                </a:lnTo>
                <a:lnTo>
                  <a:pt x="6980664" y="416595"/>
                </a:lnTo>
                <a:lnTo>
                  <a:pt x="6555633" y="833199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60483" y="3030724"/>
            <a:ext cx="18141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45" dirty="0">
                <a:solidFill>
                  <a:srgbClr val="FFFFFF"/>
                </a:solidFill>
                <a:latin typeface="Arial"/>
                <a:cs typeface="Arial"/>
              </a:rPr>
              <a:t>OPERAND</a:t>
            </a:r>
            <a:r>
              <a:rPr sz="155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BUSES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6454" y="3651501"/>
            <a:ext cx="7693659" cy="833755"/>
          </a:xfrm>
          <a:custGeom>
            <a:avLst/>
            <a:gdLst/>
            <a:ahLst/>
            <a:cxnLst/>
            <a:rect l="l" t="t" r="r" b="b"/>
            <a:pathLst>
              <a:path w="7693659" h="833754">
                <a:moveTo>
                  <a:pt x="7268294" y="833199"/>
                </a:moveTo>
                <a:lnTo>
                  <a:pt x="7268294" y="727832"/>
                </a:lnTo>
                <a:lnTo>
                  <a:pt x="0" y="727832"/>
                </a:lnTo>
                <a:lnTo>
                  <a:pt x="0" y="104253"/>
                </a:lnTo>
                <a:lnTo>
                  <a:pt x="7268294" y="104253"/>
                </a:lnTo>
                <a:lnTo>
                  <a:pt x="7268294" y="0"/>
                </a:lnTo>
                <a:lnTo>
                  <a:pt x="7693326" y="416595"/>
                </a:lnTo>
                <a:lnTo>
                  <a:pt x="7268294" y="833199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60483" y="3905377"/>
            <a:ext cx="4457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25" dirty="0">
                <a:solidFill>
                  <a:srgbClr val="FFFFFF"/>
                </a:solidFill>
                <a:latin typeface="Arial"/>
                <a:cs typeface="Arial"/>
              </a:rPr>
              <a:t>ALU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46454" y="4530774"/>
            <a:ext cx="8495665" cy="833755"/>
          </a:xfrm>
          <a:custGeom>
            <a:avLst/>
            <a:gdLst/>
            <a:ahLst/>
            <a:cxnLst/>
            <a:rect l="l" t="t" r="r" b="b"/>
            <a:pathLst>
              <a:path w="8495665" h="833754">
                <a:moveTo>
                  <a:pt x="8070039" y="833199"/>
                </a:moveTo>
                <a:lnTo>
                  <a:pt x="8070039" y="730478"/>
                </a:lnTo>
                <a:lnTo>
                  <a:pt x="0" y="730478"/>
                </a:lnTo>
                <a:lnTo>
                  <a:pt x="0" y="106899"/>
                </a:lnTo>
                <a:lnTo>
                  <a:pt x="8070039" y="106899"/>
                </a:lnTo>
                <a:lnTo>
                  <a:pt x="8070039" y="0"/>
                </a:lnTo>
                <a:lnTo>
                  <a:pt x="8495070" y="416604"/>
                </a:lnTo>
                <a:lnTo>
                  <a:pt x="8070039" y="833199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60483" y="4780029"/>
            <a:ext cx="13608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WRITE-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1962" y="5719762"/>
            <a:ext cx="361950" cy="323850"/>
          </a:xfrm>
          <a:custGeom>
            <a:avLst/>
            <a:gdLst/>
            <a:ahLst/>
            <a:cxnLst/>
            <a:rect l="l" t="t" r="r" b="b"/>
            <a:pathLst>
              <a:path w="361950" h="323850">
                <a:moveTo>
                  <a:pt x="0" y="0"/>
                </a:moveTo>
                <a:lnTo>
                  <a:pt x="361949" y="0"/>
                </a:lnTo>
                <a:lnTo>
                  <a:pt x="361949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128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3980" y="5748686"/>
            <a:ext cx="129539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50" dirty="0">
                <a:solidFill>
                  <a:srgbClr val="212829"/>
                </a:solidFill>
                <a:latin typeface="Courier New"/>
                <a:cs typeface="Courier New"/>
              </a:rPr>
              <a:t>A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38212" y="5719762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128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54844" y="5748686"/>
            <a:ext cx="129539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50" dirty="0">
                <a:solidFill>
                  <a:srgbClr val="212829"/>
                </a:solidFill>
                <a:latin typeface="Courier New"/>
                <a:cs typeface="Courier New"/>
              </a:rPr>
              <a:t>B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3987" y="5719762"/>
            <a:ext cx="933450" cy="323850"/>
          </a:xfrm>
          <a:prstGeom prst="rect">
            <a:avLst/>
          </a:prstGeom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35"/>
              </a:spcBef>
            </a:pPr>
            <a:r>
              <a:rPr sz="1350" b="1" spc="55" dirty="0">
                <a:solidFill>
                  <a:srgbClr val="212829"/>
                </a:solidFill>
                <a:latin typeface="Courier New"/>
                <a:cs typeface="Courier New"/>
              </a:rPr>
              <a:t>RESULT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1737" y="5719762"/>
            <a:ext cx="2076450" cy="323850"/>
          </a:xfrm>
          <a:prstGeom prst="rect">
            <a:avLst/>
          </a:prstGeom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CARRY</a:t>
            </a:r>
            <a:r>
              <a:rPr sz="1350" b="1" spc="17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/</a:t>
            </a:r>
            <a:r>
              <a:rPr sz="1350" b="1" spc="17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OVERFLOW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30746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M2</a:t>
            </a:r>
            <a:r>
              <a:rPr sz="1250" b="1" spc="19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0" dirty="0">
                <a:solidFill>
                  <a:srgbClr val="212829"/>
                </a:solidFill>
                <a:latin typeface="Courier New"/>
                <a:cs typeface="Courier New"/>
              </a:rPr>
              <a:t>CONTROL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95592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CONTROL</a:t>
            </a:r>
            <a:r>
              <a:rPr spc="-220" dirty="0"/>
              <a:t> </a:t>
            </a:r>
            <a:r>
              <a:rPr spc="60" dirty="0"/>
              <a:t>SIGNALS</a:t>
            </a:r>
            <a:r>
              <a:rPr spc="-215" dirty="0"/>
              <a:t> </a:t>
            </a:r>
            <a:r>
              <a:rPr dirty="0"/>
              <a:t>SELECT</a:t>
            </a:r>
            <a:r>
              <a:rPr spc="-215" dirty="0"/>
              <a:t> </a:t>
            </a:r>
            <a:r>
              <a:rPr spc="110" dirty="0"/>
              <a:t>THE</a:t>
            </a:r>
            <a:r>
              <a:rPr spc="-215" dirty="0"/>
              <a:t> </a:t>
            </a:r>
            <a:r>
              <a:rPr spc="90" dirty="0"/>
              <a:t>ARITHMETIC</a:t>
            </a:r>
            <a:r>
              <a:rPr spc="-215" dirty="0"/>
              <a:t> </a:t>
            </a:r>
            <a:r>
              <a:rPr spc="80" dirty="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238313"/>
            <a:ext cx="96297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0" dirty="0">
                <a:solidFill>
                  <a:srgbClr val="212829"/>
                </a:solidFill>
                <a:latin typeface="Century Gothic"/>
                <a:cs typeface="Century Gothic"/>
              </a:rPr>
              <a:t>One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50" dirty="0">
                <a:solidFill>
                  <a:srgbClr val="212829"/>
                </a:solidFill>
                <a:latin typeface="Century Gothic"/>
                <a:cs typeface="Century Gothic"/>
              </a:rPr>
              <a:t>circuit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45" dirty="0">
                <a:solidFill>
                  <a:srgbClr val="212829"/>
                </a:solidFill>
                <a:latin typeface="Century Gothic"/>
                <a:cs typeface="Century Gothic"/>
              </a:rPr>
              <a:t>supports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55" dirty="0">
                <a:solidFill>
                  <a:srgbClr val="212829"/>
                </a:solidFill>
                <a:latin typeface="Century Gothic"/>
                <a:cs typeface="Century Gothic"/>
              </a:rPr>
              <a:t>multiple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operations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0" dirty="0">
                <a:solidFill>
                  <a:srgbClr val="212829"/>
                </a:solidFill>
                <a:latin typeface="Century Gothic"/>
                <a:cs typeface="Century Gothic"/>
              </a:rPr>
              <a:t>because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control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60" dirty="0">
                <a:solidFill>
                  <a:srgbClr val="212829"/>
                </a:solidFill>
                <a:latin typeface="Century Gothic"/>
                <a:cs typeface="Century Gothic"/>
              </a:rPr>
              <a:t>changes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how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35" dirty="0">
                <a:solidFill>
                  <a:srgbClr val="212829"/>
                </a:solidFill>
                <a:latin typeface="Century Gothic"/>
                <a:cs typeface="Century Gothic"/>
              </a:rPr>
              <a:t>same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5" dirty="0">
                <a:solidFill>
                  <a:srgbClr val="212829"/>
                </a:solidFill>
                <a:latin typeface="Century Gothic"/>
                <a:cs typeface="Century Gothic"/>
              </a:rPr>
              <a:t>adder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0" dirty="0">
                <a:solidFill>
                  <a:srgbClr val="212829"/>
                </a:solidFill>
                <a:latin typeface="Century Gothic"/>
                <a:cs typeface="Century Gothic"/>
              </a:rPr>
              <a:t>path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65" dirty="0">
                <a:solidFill>
                  <a:srgbClr val="212829"/>
                </a:solidFill>
                <a:latin typeface="Century Gothic"/>
                <a:cs typeface="Century Gothic"/>
              </a:rPr>
              <a:t>behaves.</a:t>
            </a:r>
            <a:endParaRPr sz="1700">
              <a:latin typeface="Century Gothic"/>
              <a:cs typeface="Century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7199" y="1724024"/>
          <a:ext cx="11268075" cy="1911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5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OPERATION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1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ALUOP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55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BINVERT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9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CIN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50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ADD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2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add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b="1" spc="45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SUB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subtract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75" dirty="0">
                          <a:solidFill>
                            <a:srgbClr val="212829"/>
                          </a:solidFill>
                          <a:latin typeface="Trebuchet MS"/>
                          <a:cs typeface="Trebuchet MS"/>
                        </a:rPr>
                        <a:t>LOGIC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8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logic</a:t>
                      </a:r>
                      <a:r>
                        <a:rPr sz="1700" spc="-3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700" spc="-1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select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8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function-</a:t>
                      </a:r>
                      <a:r>
                        <a:rPr sz="1700" spc="-60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dependent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57199" y="3829049"/>
            <a:ext cx="11277600" cy="600075"/>
          </a:xfrm>
          <a:custGeom>
            <a:avLst/>
            <a:gdLst/>
            <a:ahLst/>
            <a:cxnLst/>
            <a:rect l="l" t="t" r="r" b="b"/>
            <a:pathLst>
              <a:path w="11277600" h="600075">
                <a:moveTo>
                  <a:pt x="11277598" y="599479"/>
                </a:moveTo>
                <a:lnTo>
                  <a:pt x="0" y="599479"/>
                </a:lnTo>
                <a:lnTo>
                  <a:pt x="0" y="0"/>
                </a:lnTo>
                <a:lnTo>
                  <a:pt x="11053166" y="0"/>
                </a:lnTo>
                <a:lnTo>
                  <a:pt x="11277598" y="224433"/>
                </a:lnTo>
                <a:lnTo>
                  <a:pt x="11277598" y="599479"/>
                </a:lnTo>
                <a:close/>
              </a:path>
            </a:pathLst>
          </a:custGeom>
          <a:solidFill>
            <a:srgbClr val="F5C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3850" y="3962463"/>
            <a:ext cx="733805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rebuchet MS"/>
                <a:cs typeface="Trebuchet MS"/>
              </a:rPr>
              <a:t>Subtraction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reuses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addition: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complement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B,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then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spc="-25" dirty="0">
                <a:latin typeface="Trebuchet MS"/>
                <a:cs typeface="Trebuchet MS"/>
              </a:rPr>
              <a:t>inject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the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initial</a:t>
            </a:r>
            <a:r>
              <a:rPr sz="1700" b="1" spc="-3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carry.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09220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M3</a:t>
            </a:r>
            <a:r>
              <a:rPr sz="1250" b="1" spc="19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65" dirty="0">
                <a:solidFill>
                  <a:srgbClr val="212829"/>
                </a:solidFill>
                <a:latin typeface="Courier New"/>
                <a:cs typeface="Courier New"/>
              </a:rPr>
              <a:t>STATE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3175000" cy="108839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595"/>
              </a:spcBef>
            </a:pPr>
            <a:r>
              <a:rPr spc="60" dirty="0"/>
              <a:t>REGISTERS</a:t>
            </a:r>
            <a:r>
              <a:rPr spc="-275" dirty="0"/>
              <a:t> </a:t>
            </a:r>
            <a:r>
              <a:rPr spc="45" dirty="0"/>
              <a:t>HOLD </a:t>
            </a:r>
            <a:r>
              <a:rPr dirty="0"/>
              <a:t>VALUES</a:t>
            </a:r>
            <a:r>
              <a:rPr spc="-105" dirty="0"/>
              <a:t> </a:t>
            </a:r>
            <a:r>
              <a:rPr spc="55" dirty="0"/>
              <a:t>BETWEEN </a:t>
            </a:r>
            <a:r>
              <a:rPr dirty="0"/>
              <a:t>CLOCK</a:t>
            </a:r>
            <a:r>
              <a:rPr spc="-204" dirty="0"/>
              <a:t> </a:t>
            </a:r>
            <a:r>
              <a:rPr spc="-10" dirty="0"/>
              <a:t>CYCLES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859267"/>
            <a:ext cx="3865245" cy="1958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35"/>
              </a:spcBef>
            </a:pP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Combinational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85" dirty="0">
                <a:solidFill>
                  <a:srgbClr val="212829"/>
                </a:solidFill>
                <a:latin typeface="Century Gothic"/>
                <a:cs typeface="Century Gothic"/>
              </a:rPr>
              <a:t>logic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responds </a:t>
            </a:r>
            <a:r>
              <a:rPr sz="1700" spc="-110" dirty="0">
                <a:solidFill>
                  <a:srgbClr val="212829"/>
                </a:solidFill>
                <a:latin typeface="Century Gothic"/>
                <a:cs typeface="Century Gothic"/>
              </a:rPr>
              <a:t>immediately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to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45" dirty="0">
                <a:solidFill>
                  <a:srgbClr val="212829"/>
                </a:solidFill>
                <a:latin typeface="Century Gothic"/>
                <a:cs typeface="Century Gothic"/>
              </a:rPr>
              <a:t>inputs.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Registers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5" dirty="0">
                <a:solidFill>
                  <a:srgbClr val="212829"/>
                </a:solidFill>
                <a:latin typeface="Century Gothic"/>
                <a:cs typeface="Century Gothic"/>
              </a:rPr>
              <a:t>capture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results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55" dirty="0">
                <a:solidFill>
                  <a:srgbClr val="212829"/>
                </a:solidFill>
                <a:latin typeface="Century Gothic"/>
                <a:cs typeface="Century Gothic"/>
              </a:rPr>
              <a:t>on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35" dirty="0">
                <a:solidFill>
                  <a:srgbClr val="212829"/>
                </a:solidFill>
                <a:latin typeface="Century Gothic"/>
                <a:cs typeface="Century Gothic"/>
              </a:rPr>
              <a:t>clock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edge.</a:t>
            </a:r>
            <a:endParaRPr sz="1700">
              <a:latin typeface="Century Gothic"/>
              <a:cs typeface="Century Gothic"/>
            </a:endParaRPr>
          </a:p>
          <a:p>
            <a:pPr marL="12700" marR="57785" algn="just">
              <a:lnSpc>
                <a:spcPct val="113999"/>
              </a:lnSpc>
              <a:spcBef>
                <a:spcPts val="1350"/>
              </a:spcBef>
            </a:pPr>
            <a:r>
              <a:rPr sz="1700" spc="-4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5" dirty="0">
                <a:solidFill>
                  <a:srgbClr val="212829"/>
                </a:solidFill>
                <a:latin typeface="Century Gothic"/>
                <a:cs typeface="Century Gothic"/>
              </a:rPr>
              <a:t>ALU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85" dirty="0">
                <a:solidFill>
                  <a:srgbClr val="212829"/>
                </a:solidFill>
                <a:latin typeface="Century Gothic"/>
                <a:cs typeface="Century Gothic"/>
              </a:rPr>
              <a:t>sits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80" dirty="0">
                <a:solidFill>
                  <a:srgbClr val="212829"/>
                </a:solidFill>
                <a:latin typeface="Century Gothic"/>
                <a:cs typeface="Century Gothic"/>
              </a:rPr>
              <a:t>between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stored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0" dirty="0">
                <a:solidFill>
                  <a:srgbClr val="212829"/>
                </a:solidFill>
                <a:latin typeface="Century Gothic"/>
                <a:cs typeface="Century Gothic"/>
              </a:rPr>
              <a:t>values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0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00" dirty="0">
                <a:solidFill>
                  <a:srgbClr val="212829"/>
                </a:solidFill>
                <a:latin typeface="Century Gothic"/>
                <a:cs typeface="Century Gothic"/>
              </a:rPr>
              <a:t>next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state.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80" dirty="0">
                <a:solidFill>
                  <a:srgbClr val="212829"/>
                </a:solidFill>
                <a:latin typeface="Century Gothic"/>
                <a:cs typeface="Century Gothic"/>
              </a:rPr>
              <a:t>State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4" dirty="0">
                <a:solidFill>
                  <a:srgbClr val="212829"/>
                </a:solidFill>
                <a:latin typeface="Century Gothic"/>
                <a:cs typeface="Century Gothic"/>
              </a:rPr>
              <a:t>makes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processor</a:t>
            </a:r>
            <a:r>
              <a:rPr sz="1700" spc="5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50" dirty="0">
                <a:solidFill>
                  <a:srgbClr val="212829"/>
                </a:solidFill>
                <a:latin typeface="Century Gothic"/>
                <a:cs typeface="Century Gothic"/>
              </a:rPr>
              <a:t>sequence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55" dirty="0">
                <a:solidFill>
                  <a:srgbClr val="212829"/>
                </a:solidFill>
                <a:latin typeface="Century Gothic"/>
                <a:cs typeface="Century Gothic"/>
              </a:rPr>
              <a:t>possible.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199" y="4019549"/>
            <a:ext cx="4038600" cy="542925"/>
          </a:xfrm>
          <a:prstGeom prst="rect">
            <a:avLst/>
          </a:prstGeom>
          <a:solidFill>
            <a:srgbClr val="D3E6F7"/>
          </a:solidFill>
        </p:spPr>
        <p:txBody>
          <a:bodyPr vert="horz" wrap="square" lIns="0" tIns="67945" rIns="0" bIns="0" rtlCol="0">
            <a:spAutoFit/>
          </a:bodyPr>
          <a:lstStyle/>
          <a:p>
            <a:pPr marL="128905" marR="607060">
              <a:lnSpc>
                <a:spcPts val="1580"/>
              </a:lnSpc>
              <a:spcBef>
                <a:spcPts val="535"/>
              </a:spcBef>
            </a:pPr>
            <a:r>
              <a:rPr sz="1350" b="1" spc="65" dirty="0">
                <a:solidFill>
                  <a:srgbClr val="212829"/>
                </a:solidFill>
                <a:latin typeface="Courier New"/>
                <a:cs typeface="Courier New"/>
              </a:rPr>
              <a:t>CURRENT</a:t>
            </a:r>
            <a:r>
              <a:rPr sz="1350" b="1" spc="18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STATE</a:t>
            </a:r>
            <a:r>
              <a:rPr sz="1350" b="1" spc="18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→</a:t>
            </a:r>
            <a:r>
              <a:rPr sz="1350" b="1" spc="18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COMBINATIONAL LOGIC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→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NEXT</a:t>
            </a:r>
            <a:r>
              <a:rPr sz="1350" b="1" spc="17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50" dirty="0">
                <a:solidFill>
                  <a:srgbClr val="212829"/>
                </a:solidFill>
                <a:latin typeface="Courier New"/>
                <a:cs typeface="Courier New"/>
              </a:rPr>
              <a:t>STATE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30913" y="2458922"/>
            <a:ext cx="5788660" cy="1948180"/>
          </a:xfrm>
          <a:custGeom>
            <a:avLst/>
            <a:gdLst/>
            <a:ahLst/>
            <a:cxnLst/>
            <a:rect l="l" t="t" r="r" b="b"/>
            <a:pathLst>
              <a:path w="5788659" h="1948179">
                <a:moveTo>
                  <a:pt x="4709058" y="313436"/>
                </a:moveTo>
                <a:lnTo>
                  <a:pt x="4389285" y="0"/>
                </a:lnTo>
                <a:lnTo>
                  <a:pt x="4389285" y="78854"/>
                </a:lnTo>
                <a:lnTo>
                  <a:pt x="0" y="78854"/>
                </a:lnTo>
                <a:lnTo>
                  <a:pt x="0" y="548005"/>
                </a:lnTo>
                <a:lnTo>
                  <a:pt x="4389285" y="548005"/>
                </a:lnTo>
                <a:lnTo>
                  <a:pt x="4389285" y="626859"/>
                </a:lnTo>
                <a:lnTo>
                  <a:pt x="4709058" y="313436"/>
                </a:lnTo>
                <a:close/>
              </a:path>
              <a:path w="5788659" h="1948179">
                <a:moveTo>
                  <a:pt x="5251945" y="973797"/>
                </a:moveTo>
                <a:lnTo>
                  <a:pt x="4932159" y="660374"/>
                </a:lnTo>
                <a:lnTo>
                  <a:pt x="4932159" y="740791"/>
                </a:lnTo>
                <a:lnTo>
                  <a:pt x="0" y="740791"/>
                </a:lnTo>
                <a:lnTo>
                  <a:pt x="0" y="1209954"/>
                </a:lnTo>
                <a:lnTo>
                  <a:pt x="4932159" y="1209954"/>
                </a:lnTo>
                <a:lnTo>
                  <a:pt x="4932159" y="1287233"/>
                </a:lnTo>
                <a:lnTo>
                  <a:pt x="5251945" y="973797"/>
                </a:lnTo>
                <a:close/>
              </a:path>
              <a:path w="5788659" h="1948179">
                <a:moveTo>
                  <a:pt x="5788114" y="1634172"/>
                </a:moveTo>
                <a:lnTo>
                  <a:pt x="5468340" y="1320736"/>
                </a:lnTo>
                <a:lnTo>
                  <a:pt x="5468340" y="1399184"/>
                </a:lnTo>
                <a:lnTo>
                  <a:pt x="0" y="1399184"/>
                </a:lnTo>
                <a:lnTo>
                  <a:pt x="0" y="1868335"/>
                </a:lnTo>
                <a:lnTo>
                  <a:pt x="5468340" y="1868335"/>
                </a:lnTo>
                <a:lnTo>
                  <a:pt x="5468340" y="1947608"/>
                </a:lnTo>
                <a:lnTo>
                  <a:pt x="5788114" y="1634172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41885" y="2657557"/>
            <a:ext cx="119761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20" dirty="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sz="10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1885" y="3319717"/>
            <a:ext cx="31178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25" dirty="0">
                <a:solidFill>
                  <a:srgbClr val="FFFFFF"/>
                </a:solidFill>
                <a:latin typeface="Arial"/>
                <a:cs typeface="Arial"/>
              </a:rPr>
              <a:t>ALU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885" y="3975859"/>
            <a:ext cx="88519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55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05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0" name="object 1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6313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M3</a:t>
            </a:r>
            <a:r>
              <a:rPr sz="1250" b="1" spc="19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5" dirty="0">
                <a:solidFill>
                  <a:srgbClr val="212829"/>
                </a:solidFill>
                <a:latin typeface="Courier New"/>
                <a:cs typeface="Courier New"/>
              </a:rPr>
              <a:t>CARRY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50" dirty="0">
                <a:solidFill>
                  <a:srgbClr val="212829"/>
                </a:solidFill>
                <a:latin typeface="Courier New"/>
                <a:cs typeface="Courier New"/>
              </a:rPr>
              <a:t>PATH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92716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CARRY</a:t>
            </a:r>
            <a:r>
              <a:rPr spc="-385" dirty="0"/>
              <a:t> </a:t>
            </a:r>
            <a:r>
              <a:rPr spc="80" dirty="0"/>
              <a:t>IS</a:t>
            </a:r>
            <a:r>
              <a:rPr spc="-235" dirty="0"/>
              <a:t> </a:t>
            </a:r>
            <a:r>
              <a:rPr spc="-60" dirty="0"/>
              <a:t>DATA</a:t>
            </a:r>
            <a:r>
              <a:rPr spc="-235" dirty="0"/>
              <a:t> </a:t>
            </a:r>
            <a:r>
              <a:rPr spc="60" dirty="0"/>
              <a:t>THAT</a:t>
            </a:r>
            <a:r>
              <a:rPr spc="-240" dirty="0"/>
              <a:t> </a:t>
            </a:r>
            <a:r>
              <a:rPr spc="80" dirty="0"/>
              <a:t>MOVES</a:t>
            </a:r>
            <a:r>
              <a:rPr spc="-235" dirty="0"/>
              <a:t> </a:t>
            </a:r>
            <a:r>
              <a:rPr spc="95" dirty="0"/>
              <a:t>THROUGH</a:t>
            </a:r>
            <a:r>
              <a:rPr spc="-235" dirty="0"/>
              <a:t> </a:t>
            </a:r>
            <a:r>
              <a:rPr spc="110" dirty="0"/>
              <a:t>THE</a:t>
            </a:r>
            <a:r>
              <a:rPr spc="-235" dirty="0"/>
              <a:t> </a:t>
            </a:r>
            <a:r>
              <a:rPr spc="-10" dirty="0"/>
              <a:t>DATAPATH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238313"/>
            <a:ext cx="80549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85" dirty="0">
                <a:solidFill>
                  <a:srgbClr val="212829"/>
                </a:solidFill>
                <a:latin typeface="Century Gothic"/>
                <a:cs typeface="Century Gothic"/>
              </a:rPr>
              <a:t>Every</a:t>
            </a:r>
            <a:r>
              <a:rPr sz="1700" spc="-3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bit</a:t>
            </a:r>
            <a:r>
              <a:rPr sz="1700" spc="-114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30" dirty="0">
                <a:solidFill>
                  <a:srgbClr val="212829"/>
                </a:solidFill>
                <a:latin typeface="Century Gothic"/>
                <a:cs typeface="Century Gothic"/>
              </a:rPr>
              <a:t>produces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40" dirty="0">
                <a:solidFill>
                  <a:srgbClr val="212829"/>
                </a:solidFill>
                <a:latin typeface="Century Gothic"/>
                <a:cs typeface="Century Gothic"/>
              </a:rPr>
              <a:t>sum</a:t>
            </a:r>
            <a:r>
              <a:rPr sz="1700" spc="-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carry.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40" dirty="0">
                <a:solidFill>
                  <a:srgbClr val="212829"/>
                </a:solidFill>
                <a:latin typeface="Century Gothic"/>
                <a:cs typeface="Century Gothic"/>
              </a:rPr>
              <a:t>That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4" dirty="0">
                <a:solidFill>
                  <a:srgbClr val="212829"/>
                </a:solidFill>
                <a:latin typeface="Century Gothic"/>
                <a:cs typeface="Century Gothic"/>
              </a:rPr>
              <a:t>carry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65" dirty="0">
                <a:solidFill>
                  <a:srgbClr val="212829"/>
                </a:solidFill>
                <a:latin typeface="Century Gothic"/>
                <a:cs typeface="Century Gothic"/>
              </a:rPr>
              <a:t>becomes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14" dirty="0">
                <a:solidFill>
                  <a:srgbClr val="212829"/>
                </a:solidFill>
                <a:latin typeface="Century Gothic"/>
                <a:cs typeface="Century Gothic"/>
              </a:rPr>
              <a:t>part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0" dirty="0">
                <a:solidFill>
                  <a:srgbClr val="212829"/>
                </a:solidFill>
                <a:latin typeface="Century Gothic"/>
                <a:cs typeface="Century Gothic"/>
              </a:rPr>
              <a:t>of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20" dirty="0">
                <a:solidFill>
                  <a:srgbClr val="212829"/>
                </a:solidFill>
                <a:latin typeface="Century Gothic"/>
                <a:cs typeface="Century Gothic"/>
              </a:rPr>
              <a:t>the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0" dirty="0">
                <a:solidFill>
                  <a:srgbClr val="212829"/>
                </a:solidFill>
                <a:latin typeface="Century Gothic"/>
                <a:cs typeface="Century Gothic"/>
              </a:rPr>
              <a:t>next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bit's</a:t>
            </a:r>
            <a:r>
              <a:rPr sz="1700" spc="-10" dirty="0">
                <a:solidFill>
                  <a:srgbClr val="212829"/>
                </a:solidFill>
                <a:latin typeface="Century Gothic"/>
                <a:cs typeface="Century Gothic"/>
              </a:rPr>
              <a:t> input.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87701" y="1868449"/>
            <a:ext cx="7221220" cy="2949575"/>
          </a:xfrm>
          <a:custGeom>
            <a:avLst/>
            <a:gdLst/>
            <a:ahLst/>
            <a:cxnLst/>
            <a:rect l="l" t="t" r="r" b="b"/>
            <a:pathLst>
              <a:path w="7221220" h="2949575">
                <a:moveTo>
                  <a:pt x="5320195" y="354114"/>
                </a:moveTo>
                <a:lnTo>
                  <a:pt x="4958918" y="0"/>
                </a:lnTo>
                <a:lnTo>
                  <a:pt x="4958918" y="89090"/>
                </a:lnTo>
                <a:lnTo>
                  <a:pt x="0" y="89090"/>
                </a:lnTo>
                <a:lnTo>
                  <a:pt x="0" y="619125"/>
                </a:lnTo>
                <a:lnTo>
                  <a:pt x="4958918" y="619125"/>
                </a:lnTo>
                <a:lnTo>
                  <a:pt x="4958918" y="708215"/>
                </a:lnTo>
                <a:lnTo>
                  <a:pt x="5320195" y="354114"/>
                </a:lnTo>
                <a:close/>
              </a:path>
              <a:path w="7221220" h="2949575">
                <a:moveTo>
                  <a:pt x="5933516" y="1101953"/>
                </a:moveTo>
                <a:lnTo>
                  <a:pt x="5572239" y="747852"/>
                </a:lnTo>
                <a:lnTo>
                  <a:pt x="5572239" y="838720"/>
                </a:lnTo>
                <a:lnTo>
                  <a:pt x="0" y="838720"/>
                </a:lnTo>
                <a:lnTo>
                  <a:pt x="0" y="1368755"/>
                </a:lnTo>
                <a:lnTo>
                  <a:pt x="5572239" y="1368755"/>
                </a:lnTo>
                <a:lnTo>
                  <a:pt x="5572239" y="1456067"/>
                </a:lnTo>
                <a:lnTo>
                  <a:pt x="5933516" y="1101953"/>
                </a:lnTo>
                <a:close/>
              </a:path>
              <a:path w="7221220" h="2949575">
                <a:moveTo>
                  <a:pt x="6539281" y="1848027"/>
                </a:moveTo>
                <a:lnTo>
                  <a:pt x="6178004" y="1493926"/>
                </a:lnTo>
                <a:lnTo>
                  <a:pt x="6178004" y="1582547"/>
                </a:lnTo>
                <a:lnTo>
                  <a:pt x="0" y="1582547"/>
                </a:lnTo>
                <a:lnTo>
                  <a:pt x="0" y="2112581"/>
                </a:lnTo>
                <a:lnTo>
                  <a:pt x="6178004" y="2112581"/>
                </a:lnTo>
                <a:lnTo>
                  <a:pt x="6178004" y="2202142"/>
                </a:lnTo>
                <a:lnTo>
                  <a:pt x="6539281" y="1848027"/>
                </a:lnTo>
                <a:close/>
              </a:path>
              <a:path w="7221220" h="2949575">
                <a:moveTo>
                  <a:pt x="7220750" y="2595410"/>
                </a:moveTo>
                <a:lnTo>
                  <a:pt x="6859486" y="2241308"/>
                </a:lnTo>
                <a:lnTo>
                  <a:pt x="6859486" y="2332164"/>
                </a:lnTo>
                <a:lnTo>
                  <a:pt x="0" y="2332164"/>
                </a:lnTo>
                <a:lnTo>
                  <a:pt x="0" y="2862199"/>
                </a:lnTo>
                <a:lnTo>
                  <a:pt x="6859486" y="2862199"/>
                </a:lnTo>
                <a:lnTo>
                  <a:pt x="6859486" y="2949524"/>
                </a:lnTo>
                <a:lnTo>
                  <a:pt x="7220750" y="2595410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37720" y="2081848"/>
            <a:ext cx="75501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3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7720" y="2832807"/>
            <a:ext cx="75501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3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720" y="3576256"/>
            <a:ext cx="75501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3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7720" y="4319706"/>
            <a:ext cx="755015" cy="2298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STAGE</a:t>
            </a:r>
            <a:r>
              <a:rPr sz="13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5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9" y="5143499"/>
            <a:ext cx="5638800" cy="1274445"/>
          </a:xfrm>
          <a:custGeom>
            <a:avLst/>
            <a:gdLst/>
            <a:ahLst/>
            <a:cxnLst/>
            <a:rect l="l" t="t" r="r" b="b"/>
            <a:pathLst>
              <a:path w="5638800" h="1274445">
                <a:moveTo>
                  <a:pt x="5638799" y="1274415"/>
                </a:moveTo>
                <a:lnTo>
                  <a:pt x="0" y="1274415"/>
                </a:lnTo>
                <a:lnTo>
                  <a:pt x="0" y="0"/>
                </a:lnTo>
                <a:lnTo>
                  <a:pt x="5414515" y="0"/>
                </a:lnTo>
                <a:lnTo>
                  <a:pt x="5638799" y="224284"/>
                </a:lnTo>
                <a:lnTo>
                  <a:pt x="5638799" y="1274415"/>
                </a:lnTo>
                <a:close/>
              </a:path>
            </a:pathLst>
          </a:custGeom>
          <a:solidFill>
            <a:srgbClr val="F5C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3099" y="5107292"/>
            <a:ext cx="4517390" cy="11303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700" b="1" dirty="0">
                <a:latin typeface="Trebuchet MS"/>
                <a:cs typeface="Trebuchet MS"/>
              </a:rPr>
              <a:t>Timing</a:t>
            </a:r>
            <a:r>
              <a:rPr sz="1700" b="1" spc="190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rule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10300"/>
              </a:lnSpc>
              <a:spcBef>
                <a:spcPts val="975"/>
              </a:spcBef>
            </a:pPr>
            <a:r>
              <a:rPr sz="1700" dirty="0">
                <a:latin typeface="Century Gothic"/>
                <a:cs typeface="Century Gothic"/>
              </a:rPr>
              <a:t>The</a:t>
            </a:r>
            <a:r>
              <a:rPr sz="1700" spc="-120" dirty="0">
                <a:latin typeface="Century Gothic"/>
                <a:cs typeface="Century Gothic"/>
              </a:rPr>
              <a:t> </a:t>
            </a:r>
            <a:r>
              <a:rPr sz="1700" spc="-114" dirty="0">
                <a:latin typeface="Century Gothic"/>
                <a:cs typeface="Century Gothic"/>
              </a:rPr>
              <a:t>carry</a:t>
            </a:r>
            <a:r>
              <a:rPr sz="1700" spc="-5" dirty="0">
                <a:latin typeface="Century Gothic"/>
                <a:cs typeface="Century Gothic"/>
              </a:rPr>
              <a:t> </a:t>
            </a:r>
            <a:r>
              <a:rPr sz="1700" spc="-40" dirty="0">
                <a:latin typeface="Century Gothic"/>
                <a:cs typeface="Century Gothic"/>
              </a:rPr>
              <a:t>must</a:t>
            </a:r>
            <a:r>
              <a:rPr sz="1700" spc="-25" dirty="0">
                <a:latin typeface="Century Gothic"/>
                <a:cs typeface="Century Gothic"/>
              </a:rPr>
              <a:t> </a:t>
            </a:r>
            <a:r>
              <a:rPr sz="1700" spc="-30" dirty="0">
                <a:latin typeface="Century Gothic"/>
                <a:cs typeface="Century Gothic"/>
              </a:rPr>
              <a:t>settle</a:t>
            </a:r>
            <a:r>
              <a:rPr sz="1700" spc="-20" dirty="0">
                <a:latin typeface="Century Gothic"/>
                <a:cs typeface="Century Gothic"/>
              </a:rPr>
              <a:t> </a:t>
            </a:r>
            <a:r>
              <a:rPr sz="1700" spc="-135" dirty="0">
                <a:latin typeface="Century Gothic"/>
                <a:cs typeface="Century Gothic"/>
              </a:rPr>
              <a:t>before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120" dirty="0">
                <a:latin typeface="Century Gothic"/>
                <a:cs typeface="Century Gothic"/>
              </a:rPr>
              <a:t>the</a:t>
            </a:r>
            <a:r>
              <a:rPr sz="1700" dirty="0">
                <a:latin typeface="Century Gothic"/>
                <a:cs typeface="Century Gothic"/>
              </a:rPr>
              <a:t> </a:t>
            </a:r>
            <a:r>
              <a:rPr sz="1700" spc="-125" dirty="0">
                <a:latin typeface="Century Gothic"/>
                <a:cs typeface="Century Gothic"/>
              </a:rPr>
              <a:t>output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10" dirty="0">
                <a:latin typeface="Century Gothic"/>
                <a:cs typeface="Century Gothic"/>
              </a:rPr>
              <a:t>register </a:t>
            </a:r>
            <a:r>
              <a:rPr sz="1700" spc="-120" dirty="0">
                <a:latin typeface="Century Gothic"/>
                <a:cs typeface="Century Gothic"/>
              </a:rPr>
              <a:t>captures</a:t>
            </a:r>
            <a:r>
              <a:rPr sz="1700" spc="20" dirty="0">
                <a:latin typeface="Century Gothic"/>
                <a:cs typeface="Century Gothic"/>
              </a:rPr>
              <a:t> </a:t>
            </a:r>
            <a:r>
              <a:rPr sz="1700" spc="-120" dirty="0">
                <a:latin typeface="Century Gothic"/>
                <a:cs typeface="Century Gothic"/>
              </a:rPr>
              <a:t>the</a:t>
            </a:r>
            <a:r>
              <a:rPr sz="1700" spc="20" dirty="0">
                <a:latin typeface="Century Gothic"/>
                <a:cs typeface="Century Gothic"/>
              </a:rPr>
              <a:t> </a:t>
            </a:r>
            <a:r>
              <a:rPr sz="1700" spc="-20" dirty="0">
                <a:latin typeface="Century Gothic"/>
                <a:cs typeface="Century Gothic"/>
              </a:rPr>
              <a:t>word.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35030" y="5349875"/>
            <a:ext cx="46183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Registers</a:t>
            </a:r>
            <a:r>
              <a:rPr sz="1350" spc="-7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store</a:t>
            </a:r>
            <a:r>
              <a:rPr sz="1350" spc="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70" dirty="0">
                <a:solidFill>
                  <a:srgbClr val="5D6263"/>
                </a:solidFill>
                <a:latin typeface="Century Gothic"/>
                <a:cs typeface="Century Gothic"/>
              </a:rPr>
              <a:t>the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20" dirty="0">
                <a:solidFill>
                  <a:srgbClr val="5D6263"/>
                </a:solidFill>
                <a:latin typeface="Century Gothic"/>
                <a:cs typeface="Century Gothic"/>
              </a:rPr>
              <a:t>completed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14" dirty="0">
                <a:solidFill>
                  <a:srgbClr val="5D6263"/>
                </a:solidFill>
                <a:latin typeface="Century Gothic"/>
                <a:cs typeface="Century Gothic"/>
              </a:rPr>
              <a:t>word,</a:t>
            </a:r>
            <a:r>
              <a:rPr sz="1350" spc="2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80" dirty="0">
                <a:solidFill>
                  <a:srgbClr val="5D6263"/>
                </a:solidFill>
                <a:latin typeface="Century Gothic"/>
                <a:cs typeface="Century Gothic"/>
              </a:rPr>
              <a:t>not</a:t>
            </a:r>
            <a:r>
              <a:rPr sz="1350" spc="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65" dirty="0">
                <a:solidFill>
                  <a:srgbClr val="5D6263"/>
                </a:solidFill>
                <a:latin typeface="Century Gothic"/>
                <a:cs typeface="Century Gothic"/>
              </a:rPr>
              <a:t>each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30" dirty="0">
                <a:solidFill>
                  <a:srgbClr val="5D6263"/>
                </a:solidFill>
                <a:latin typeface="Century Gothic"/>
                <a:cs typeface="Century Gothic"/>
              </a:rPr>
              <a:t>internal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25" dirty="0">
                <a:solidFill>
                  <a:srgbClr val="5D6263"/>
                </a:solidFill>
                <a:latin typeface="Century Gothic"/>
                <a:cs typeface="Century Gothic"/>
              </a:rPr>
              <a:t>carry.</a:t>
            </a:r>
            <a:endParaRPr sz="1350">
              <a:latin typeface="Century Gothic"/>
              <a:cs typeface="Century Gothic"/>
            </a:endParaRPr>
          </a:p>
        </p:txBody>
      </p:sp>
      <p:pic>
        <p:nvPicPr>
          <p:cNvPr id="13" name="object 1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260223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M4</a:t>
            </a:r>
            <a:r>
              <a:rPr sz="1250" b="1" spc="19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85" dirty="0">
                <a:solidFill>
                  <a:srgbClr val="212829"/>
                </a:solidFill>
                <a:latin typeface="Courier New"/>
                <a:cs typeface="Courier New"/>
              </a:rPr>
              <a:t>ARITHMETIC</a:t>
            </a:r>
            <a:r>
              <a:rPr sz="1250" b="1" spc="20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70" dirty="0">
                <a:solidFill>
                  <a:srgbClr val="212829"/>
                </a:solidFill>
                <a:latin typeface="Courier New"/>
                <a:cs typeface="Courier New"/>
              </a:rPr>
              <a:t>CIRCUITS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59963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FROM</a:t>
            </a:r>
            <a:r>
              <a:rPr spc="-195" dirty="0"/>
              <a:t> </a:t>
            </a:r>
            <a:r>
              <a:rPr spc="55" dirty="0"/>
              <a:t>HALF</a:t>
            </a:r>
            <a:r>
              <a:rPr spc="-270" dirty="0"/>
              <a:t> </a:t>
            </a:r>
            <a:r>
              <a:rPr dirty="0"/>
              <a:t>ADDER</a:t>
            </a:r>
            <a:r>
              <a:rPr spc="-190" dirty="0"/>
              <a:t> </a:t>
            </a:r>
            <a:r>
              <a:rPr spc="65" dirty="0"/>
              <a:t>TO</a:t>
            </a:r>
            <a:r>
              <a:rPr spc="-190" dirty="0"/>
              <a:t> </a:t>
            </a:r>
            <a:r>
              <a:rPr dirty="0"/>
              <a:t>FULL</a:t>
            </a:r>
            <a:r>
              <a:rPr spc="-190" dirty="0"/>
              <a:t> </a:t>
            </a:r>
            <a:r>
              <a:rPr spc="-10" dirty="0"/>
              <a:t>ADDER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238313"/>
            <a:ext cx="96818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0" dirty="0">
                <a:solidFill>
                  <a:srgbClr val="212829"/>
                </a:solidFill>
                <a:latin typeface="Century Gothic"/>
                <a:cs typeface="Century Gothic"/>
              </a:rPr>
              <a:t>Adding</a:t>
            </a:r>
            <a:r>
              <a:rPr sz="1700" spc="-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65" dirty="0">
                <a:solidFill>
                  <a:srgbClr val="212829"/>
                </a:solidFill>
                <a:latin typeface="Century Gothic"/>
                <a:cs typeface="Century Gothic"/>
              </a:rPr>
              <a:t>B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60" dirty="0">
                <a:solidFill>
                  <a:srgbClr val="212829"/>
                </a:solidFill>
                <a:latin typeface="Century Gothic"/>
                <a:cs typeface="Century Gothic"/>
              </a:rPr>
              <a:t>gives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80" dirty="0">
                <a:solidFill>
                  <a:srgbClr val="212829"/>
                </a:solidFill>
                <a:latin typeface="Century Gothic"/>
                <a:cs typeface="Century Gothic"/>
              </a:rPr>
              <a:t>half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0" dirty="0">
                <a:solidFill>
                  <a:srgbClr val="212829"/>
                </a:solidFill>
                <a:latin typeface="Century Gothic"/>
                <a:cs typeface="Century Gothic"/>
              </a:rPr>
              <a:t>adder.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50" dirty="0">
                <a:solidFill>
                  <a:srgbClr val="212829"/>
                </a:solidFill>
                <a:latin typeface="Century Gothic"/>
                <a:cs typeface="Century Gothic"/>
              </a:rPr>
              <a:t>Adding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5" dirty="0">
                <a:solidFill>
                  <a:srgbClr val="212829"/>
                </a:solidFill>
                <a:latin typeface="Century Gothic"/>
                <a:cs typeface="Century Gothic"/>
              </a:rPr>
              <a:t>A,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B,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carry-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in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60" dirty="0">
                <a:solidFill>
                  <a:srgbClr val="212829"/>
                </a:solidFill>
                <a:latin typeface="Century Gothic"/>
                <a:cs typeface="Century Gothic"/>
              </a:rPr>
              <a:t>gives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80" dirty="0">
                <a:solidFill>
                  <a:srgbClr val="212829"/>
                </a:solidFill>
                <a:latin typeface="Century Gothic"/>
                <a:cs typeface="Century Gothic"/>
              </a:rPr>
              <a:t>a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full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75" dirty="0">
                <a:solidFill>
                  <a:srgbClr val="212829"/>
                </a:solidFill>
                <a:latin typeface="Century Gothic"/>
                <a:cs typeface="Century Gothic"/>
              </a:rPr>
              <a:t>adder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75" dirty="0">
                <a:solidFill>
                  <a:srgbClr val="212829"/>
                </a:solidFill>
                <a:latin typeface="Century Gothic"/>
                <a:cs typeface="Century Gothic"/>
              </a:rPr>
              <a:t>with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Sum</a:t>
            </a:r>
            <a:r>
              <a:rPr sz="170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15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700" spc="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95" dirty="0">
                <a:solidFill>
                  <a:srgbClr val="212829"/>
                </a:solidFill>
                <a:latin typeface="Century Gothic"/>
                <a:cs typeface="Century Gothic"/>
              </a:rPr>
              <a:t>carry-</a:t>
            </a:r>
            <a:r>
              <a:rPr sz="1700" spc="-20" dirty="0">
                <a:solidFill>
                  <a:srgbClr val="212829"/>
                </a:solidFill>
                <a:latin typeface="Century Gothic"/>
                <a:cs typeface="Century Gothic"/>
              </a:rPr>
              <a:t>out.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0777" y="1926415"/>
            <a:ext cx="4369424" cy="1096010"/>
          </a:xfrm>
          <a:custGeom>
            <a:avLst/>
            <a:gdLst/>
            <a:ahLst/>
            <a:cxnLst/>
            <a:rect l="l" t="t" r="r" b="b"/>
            <a:pathLst>
              <a:path w="8233409" h="1096010">
                <a:moveTo>
                  <a:pt x="7673916" y="1095960"/>
                </a:moveTo>
                <a:lnTo>
                  <a:pt x="7673916" y="958103"/>
                </a:lnTo>
                <a:lnTo>
                  <a:pt x="0" y="958103"/>
                </a:lnTo>
                <a:lnTo>
                  <a:pt x="0" y="137869"/>
                </a:lnTo>
                <a:lnTo>
                  <a:pt x="7673916" y="137869"/>
                </a:lnTo>
                <a:lnTo>
                  <a:pt x="7673916" y="0"/>
                </a:lnTo>
                <a:lnTo>
                  <a:pt x="8232987" y="547986"/>
                </a:lnTo>
                <a:lnTo>
                  <a:pt x="7673916" y="1095960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93960" y="2283215"/>
            <a:ext cx="16294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HALF-</a:t>
            </a: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ADDER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0776" y="3080964"/>
            <a:ext cx="5400029" cy="1096010"/>
          </a:xfrm>
          <a:custGeom>
            <a:avLst/>
            <a:gdLst/>
            <a:ahLst/>
            <a:cxnLst/>
            <a:rect l="l" t="t" r="r" b="b"/>
            <a:pathLst>
              <a:path w="9182735" h="1096010">
                <a:moveTo>
                  <a:pt x="8623043" y="1095960"/>
                </a:moveTo>
                <a:lnTo>
                  <a:pt x="8623043" y="960844"/>
                </a:lnTo>
                <a:lnTo>
                  <a:pt x="0" y="960844"/>
                </a:lnTo>
                <a:lnTo>
                  <a:pt x="0" y="140611"/>
                </a:lnTo>
                <a:lnTo>
                  <a:pt x="8623043" y="140611"/>
                </a:lnTo>
                <a:lnTo>
                  <a:pt x="8623043" y="0"/>
                </a:lnTo>
                <a:lnTo>
                  <a:pt x="9182114" y="547986"/>
                </a:lnTo>
                <a:lnTo>
                  <a:pt x="8623043" y="1095960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93960" y="3440889"/>
            <a:ext cx="15913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FULL-</a:t>
            </a: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ADDER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0777" y="4235513"/>
            <a:ext cx="6503024" cy="1096010"/>
          </a:xfrm>
          <a:custGeom>
            <a:avLst/>
            <a:gdLst/>
            <a:ahLst/>
            <a:cxnLst/>
            <a:rect l="l" t="t" r="r" b="b"/>
            <a:pathLst>
              <a:path w="10119995" h="1096010">
                <a:moveTo>
                  <a:pt x="9560452" y="1095972"/>
                </a:moveTo>
                <a:lnTo>
                  <a:pt x="9560452" y="957376"/>
                </a:lnTo>
                <a:lnTo>
                  <a:pt x="0" y="957376"/>
                </a:lnTo>
                <a:lnTo>
                  <a:pt x="0" y="137142"/>
                </a:lnTo>
                <a:lnTo>
                  <a:pt x="9560452" y="137142"/>
                </a:lnTo>
                <a:lnTo>
                  <a:pt x="9560452" y="0"/>
                </a:lnTo>
                <a:lnTo>
                  <a:pt x="10119524" y="547986"/>
                </a:lnTo>
                <a:lnTo>
                  <a:pt x="9560452" y="1095972"/>
                </a:lnTo>
                <a:close/>
              </a:path>
            </a:pathLst>
          </a:custGeom>
          <a:solidFill>
            <a:srgbClr val="1D6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93960" y="4588038"/>
            <a:ext cx="158559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95" dirty="0">
                <a:solidFill>
                  <a:srgbClr val="FFFFFF"/>
                </a:solidFill>
                <a:latin typeface="Arial"/>
                <a:cs typeface="Arial"/>
              </a:rPr>
              <a:t>4-</a:t>
            </a:r>
            <a:r>
              <a:rPr sz="1850" b="1" spc="80" dirty="0">
                <a:solidFill>
                  <a:srgbClr val="FFFFFF"/>
                </a:solidFill>
                <a:latin typeface="Arial"/>
                <a:cs typeface="Arial"/>
              </a:rPr>
              <a:t>BIT</a:t>
            </a:r>
            <a:r>
              <a:rPr sz="185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Arial"/>
                <a:cs typeface="Arial"/>
              </a:rPr>
              <a:t>ADDER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962" y="5719762"/>
            <a:ext cx="2190750" cy="323850"/>
          </a:xfrm>
          <a:prstGeom prst="rect">
            <a:avLst/>
          </a:prstGeom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HALF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5" dirty="0">
                <a:solidFill>
                  <a:srgbClr val="212829"/>
                </a:solidFill>
                <a:latin typeface="Courier New"/>
                <a:cs typeface="Courier New"/>
              </a:rPr>
              <a:t>ADDER: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A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+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-50" dirty="0">
                <a:solidFill>
                  <a:srgbClr val="212829"/>
                </a:solidFill>
                <a:latin typeface="Courier New"/>
                <a:cs typeface="Courier New"/>
              </a:rPr>
              <a:t>B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7012" y="5719762"/>
            <a:ext cx="2867025" cy="323850"/>
          </a:xfrm>
          <a:prstGeom prst="rect">
            <a:avLst/>
          </a:prstGeom>
          <a:ln w="9524">
            <a:solidFill>
              <a:srgbClr val="212829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335"/>
              </a:spcBef>
            </a:pP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FULL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5" dirty="0">
                <a:solidFill>
                  <a:srgbClr val="212829"/>
                </a:solidFill>
                <a:latin typeface="Courier New"/>
                <a:cs typeface="Courier New"/>
              </a:rPr>
              <a:t>ADDER: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A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+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B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+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25" dirty="0">
                <a:solidFill>
                  <a:srgbClr val="212829"/>
                </a:solidFill>
                <a:latin typeface="Courier New"/>
                <a:cs typeface="Courier New"/>
              </a:rPr>
              <a:t>CIN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3099" y="5714999"/>
            <a:ext cx="3333750" cy="333375"/>
          </a:xfrm>
          <a:prstGeom prst="rect">
            <a:avLst/>
          </a:prstGeom>
          <a:solidFill>
            <a:srgbClr val="D3E6F7"/>
          </a:solidFill>
        </p:spPr>
        <p:txBody>
          <a:bodyPr vert="horz" wrap="square" lIns="0" tIns="47625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375"/>
              </a:spcBef>
            </a:pP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4</a:t>
            </a:r>
            <a:r>
              <a:rPr sz="1350" b="1" spc="165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0" dirty="0">
                <a:solidFill>
                  <a:srgbClr val="212829"/>
                </a:solidFill>
                <a:latin typeface="Courier New"/>
                <a:cs typeface="Courier New"/>
              </a:rPr>
              <a:t>FULL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65" dirty="0">
                <a:solidFill>
                  <a:srgbClr val="212829"/>
                </a:solidFill>
                <a:latin typeface="Courier New"/>
                <a:cs typeface="Courier New"/>
              </a:rPr>
              <a:t>ADDERS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212829"/>
                </a:solidFill>
                <a:latin typeface="Courier New"/>
                <a:cs typeface="Courier New"/>
              </a:rPr>
              <a:t>→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80" dirty="0">
                <a:solidFill>
                  <a:srgbClr val="212829"/>
                </a:solidFill>
                <a:latin typeface="Courier New"/>
                <a:cs typeface="Courier New"/>
              </a:rPr>
              <a:t>4-</a:t>
            </a:r>
            <a:r>
              <a:rPr sz="1350" b="1" spc="50" dirty="0">
                <a:solidFill>
                  <a:srgbClr val="212829"/>
                </a:solidFill>
                <a:latin typeface="Courier New"/>
                <a:cs typeface="Courier New"/>
              </a:rPr>
              <a:t>BIT</a:t>
            </a:r>
            <a:r>
              <a:rPr sz="1350" b="1" spc="170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350" b="1" spc="40" dirty="0">
                <a:solidFill>
                  <a:srgbClr val="212829"/>
                </a:solidFill>
                <a:latin typeface="Courier New"/>
                <a:cs typeface="Courier New"/>
              </a:rPr>
              <a:t>ADDER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14" name="object 1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72DB8E-1312-E2E2-0C59-26D011113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828801"/>
            <a:ext cx="3733800" cy="3502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20631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45" dirty="0">
                <a:solidFill>
                  <a:srgbClr val="212829"/>
                </a:solidFill>
                <a:latin typeface="Courier New"/>
                <a:cs typeface="Courier New"/>
              </a:rPr>
              <a:t>M4</a:t>
            </a:r>
            <a:r>
              <a:rPr sz="1250" b="1" spc="204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dirty="0">
                <a:solidFill>
                  <a:srgbClr val="212829"/>
                </a:solidFill>
                <a:latin typeface="Courier New"/>
                <a:cs typeface="Courier New"/>
              </a:rPr>
              <a:t>·</a:t>
            </a:r>
            <a:r>
              <a:rPr sz="1250" b="1" spc="204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80" dirty="0">
                <a:solidFill>
                  <a:srgbClr val="212829"/>
                </a:solidFill>
                <a:latin typeface="Courier New"/>
                <a:cs typeface="Courier New"/>
              </a:rPr>
              <a:t>REUSABLE</a:t>
            </a:r>
            <a:r>
              <a:rPr sz="1250" b="1" spc="204" dirty="0">
                <a:solidFill>
                  <a:srgbClr val="212829"/>
                </a:solidFill>
                <a:latin typeface="Courier New"/>
                <a:cs typeface="Courier New"/>
              </a:rPr>
              <a:t> </a:t>
            </a:r>
            <a:r>
              <a:rPr sz="1250" b="1" spc="55" dirty="0">
                <a:solidFill>
                  <a:srgbClr val="212829"/>
                </a:solidFill>
                <a:latin typeface="Courier New"/>
                <a:cs typeface="Courier New"/>
              </a:rPr>
              <a:t>LOGIC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47763"/>
            <a:ext cx="98971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THE</a:t>
            </a:r>
            <a:r>
              <a:rPr spc="-210" dirty="0"/>
              <a:t> </a:t>
            </a:r>
            <a:r>
              <a:rPr spc="-10" dirty="0"/>
              <a:t>FULL-</a:t>
            </a:r>
            <a:r>
              <a:rPr dirty="0"/>
              <a:t>ADDER</a:t>
            </a:r>
            <a:r>
              <a:rPr spc="-210" dirty="0"/>
              <a:t> </a:t>
            </a:r>
            <a:r>
              <a:rPr spc="50" dirty="0"/>
              <a:t>EQUATIONS</a:t>
            </a:r>
            <a:r>
              <a:rPr spc="-210" dirty="0"/>
              <a:t> </a:t>
            </a:r>
            <a:r>
              <a:rPr dirty="0"/>
              <a:t>ARE</a:t>
            </a:r>
            <a:r>
              <a:rPr spc="-210" dirty="0"/>
              <a:t> </a:t>
            </a:r>
            <a:r>
              <a:rPr spc="65" dirty="0"/>
              <a:t>SIMPLE</a:t>
            </a:r>
            <a:r>
              <a:rPr spc="-204" dirty="0"/>
              <a:t> </a:t>
            </a:r>
            <a:r>
              <a:rPr spc="80" dirty="0"/>
              <a:t>AND</a:t>
            </a:r>
            <a:r>
              <a:rPr spc="-210" dirty="0"/>
              <a:t> </a:t>
            </a:r>
            <a:r>
              <a:rPr spc="35" dirty="0"/>
              <a:t>REUSABLE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199" y="1257299"/>
            <a:ext cx="2667000" cy="2981325"/>
          </a:xfrm>
          <a:prstGeom prst="rect">
            <a:avLst/>
          </a:prstGeom>
          <a:solidFill>
            <a:srgbClr val="F5C845"/>
          </a:solidFill>
        </p:spPr>
        <p:txBody>
          <a:bodyPr vert="horz" wrap="square" lIns="0" tIns="14605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150"/>
              </a:spcBef>
            </a:pPr>
            <a:r>
              <a:rPr sz="1250" b="1" spc="35" dirty="0">
                <a:latin typeface="Courier New"/>
                <a:cs typeface="Courier New"/>
              </a:rPr>
              <a:t>SUM</a:t>
            </a:r>
            <a:endParaRPr sz="1250">
              <a:latin typeface="Courier New"/>
              <a:cs typeface="Courier New"/>
            </a:endParaRPr>
          </a:p>
          <a:p>
            <a:pPr marR="57150" algn="ctr">
              <a:lnSpc>
                <a:spcPct val="100000"/>
              </a:lnSpc>
              <a:spcBef>
                <a:spcPts val="750"/>
              </a:spcBef>
            </a:pPr>
            <a:r>
              <a:rPr sz="2300" i="1" spc="180" dirty="0">
                <a:latin typeface="Book Antiqua"/>
                <a:cs typeface="Book Antiqua"/>
              </a:rPr>
              <a:t>Sum</a:t>
            </a:r>
            <a:r>
              <a:rPr sz="2300" i="1" spc="50" dirty="0">
                <a:latin typeface="Book Antiqua"/>
                <a:cs typeface="Book Antiqua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=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i="1" spc="65" dirty="0">
                <a:latin typeface="Book Antiqua"/>
                <a:cs typeface="Book Antiqua"/>
              </a:rPr>
              <a:t>A</a:t>
            </a:r>
            <a:r>
              <a:rPr sz="2300" i="1" spc="-70" dirty="0">
                <a:latin typeface="Book Antiqua"/>
                <a:cs typeface="Book Antiqua"/>
              </a:rPr>
              <a:t> </a:t>
            </a:r>
            <a:r>
              <a:rPr sz="2300" spc="-45" dirty="0">
                <a:latin typeface="Lucida Sans Unicode"/>
                <a:cs typeface="Lucida Sans Unicode"/>
              </a:rPr>
              <a:t>⊕</a:t>
            </a:r>
            <a:r>
              <a:rPr sz="2300" spc="-215" dirty="0">
                <a:latin typeface="Lucida Sans Unicode"/>
                <a:cs typeface="Lucida Sans Unicode"/>
              </a:rPr>
              <a:t> </a:t>
            </a:r>
            <a:r>
              <a:rPr sz="2300" i="1" spc="350" dirty="0">
                <a:latin typeface="Book Antiqua"/>
                <a:cs typeface="Book Antiqua"/>
              </a:rPr>
              <a:t>B</a:t>
            </a:r>
            <a:r>
              <a:rPr sz="2300" i="1" spc="45" dirty="0">
                <a:latin typeface="Book Antiqua"/>
                <a:cs typeface="Book Antiqua"/>
              </a:rPr>
              <a:t> </a:t>
            </a:r>
            <a:r>
              <a:rPr sz="2300" spc="-50" dirty="0">
                <a:latin typeface="Lucida Sans Unicode"/>
                <a:cs typeface="Lucida Sans Unicode"/>
              </a:rPr>
              <a:t>⊕</a:t>
            </a:r>
            <a:endParaRPr sz="23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300" i="1" spc="150" dirty="0">
                <a:latin typeface="Book Antiqua"/>
                <a:cs typeface="Book Antiqua"/>
              </a:rPr>
              <a:t>Cin</a:t>
            </a:r>
            <a:endParaRPr sz="2300">
              <a:latin typeface="Book Antiqua"/>
              <a:cs typeface="Book Antiqua"/>
            </a:endParaRPr>
          </a:p>
          <a:p>
            <a:pPr marL="152400" marR="330835">
              <a:lnSpc>
                <a:spcPct val="110300"/>
              </a:lnSpc>
              <a:spcBef>
                <a:spcPts val="1005"/>
              </a:spcBef>
            </a:pPr>
            <a:r>
              <a:rPr sz="1700" spc="-30" dirty="0">
                <a:latin typeface="Century Gothic"/>
                <a:cs typeface="Century Gothic"/>
              </a:rPr>
              <a:t>Sum</a:t>
            </a:r>
            <a:r>
              <a:rPr sz="1700" spc="-25" dirty="0">
                <a:latin typeface="Century Gothic"/>
                <a:cs typeface="Century Gothic"/>
              </a:rPr>
              <a:t> </a:t>
            </a:r>
            <a:r>
              <a:rPr sz="1700" spc="130" dirty="0">
                <a:latin typeface="Century Gothic"/>
                <a:cs typeface="Century Gothic"/>
              </a:rPr>
              <a:t>is</a:t>
            </a:r>
            <a:r>
              <a:rPr sz="1700" dirty="0">
                <a:latin typeface="Century Gothic"/>
                <a:cs typeface="Century Gothic"/>
              </a:rPr>
              <a:t> </a:t>
            </a:r>
            <a:r>
              <a:rPr sz="1700" spc="-265" dirty="0">
                <a:latin typeface="Century Gothic"/>
                <a:cs typeface="Century Gothic"/>
              </a:rPr>
              <a:t>1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195" dirty="0">
                <a:latin typeface="Century Gothic"/>
                <a:cs typeface="Century Gothic"/>
              </a:rPr>
              <a:t>when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204" dirty="0">
                <a:latin typeface="Century Gothic"/>
                <a:cs typeface="Century Gothic"/>
              </a:rPr>
              <a:t>an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odd </a:t>
            </a:r>
            <a:r>
              <a:rPr sz="1700" spc="-135" dirty="0">
                <a:latin typeface="Century Gothic"/>
                <a:cs typeface="Century Gothic"/>
              </a:rPr>
              <a:t>number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70" dirty="0">
                <a:latin typeface="Century Gothic"/>
                <a:cs typeface="Century Gothic"/>
              </a:rPr>
              <a:t>of</a:t>
            </a:r>
            <a:r>
              <a:rPr sz="1700" spc="-50" dirty="0">
                <a:latin typeface="Century Gothic"/>
                <a:cs typeface="Century Gothic"/>
              </a:rPr>
              <a:t> </a:t>
            </a:r>
            <a:r>
              <a:rPr sz="1700" spc="-30" dirty="0">
                <a:latin typeface="Century Gothic"/>
                <a:cs typeface="Century Gothic"/>
              </a:rPr>
              <a:t>inputs</a:t>
            </a:r>
            <a:r>
              <a:rPr sz="1700" spc="-15" dirty="0">
                <a:latin typeface="Century Gothic"/>
                <a:cs typeface="Century Gothic"/>
              </a:rPr>
              <a:t> </a:t>
            </a:r>
            <a:r>
              <a:rPr sz="1700" spc="-145" dirty="0">
                <a:latin typeface="Century Gothic"/>
                <a:cs typeface="Century Gothic"/>
              </a:rPr>
              <a:t>are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150" dirty="0">
                <a:latin typeface="Century Gothic"/>
                <a:cs typeface="Century Gothic"/>
              </a:rPr>
              <a:t>1.</a:t>
            </a:r>
            <a:endParaRPr sz="1700">
              <a:latin typeface="Century Gothic"/>
              <a:cs typeface="Century Gothic"/>
            </a:endParaRPr>
          </a:p>
          <a:p>
            <a:pPr marL="152400">
              <a:lnSpc>
                <a:spcPct val="100000"/>
              </a:lnSpc>
              <a:spcBef>
                <a:spcPts val="1160"/>
              </a:spcBef>
            </a:pPr>
            <a:r>
              <a:rPr sz="1350" spc="-40" dirty="0">
                <a:latin typeface="Century Gothic"/>
                <a:cs typeface="Century Gothic"/>
              </a:rPr>
              <a:t>XOR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spc="-80" dirty="0">
                <a:latin typeface="Century Gothic"/>
                <a:cs typeface="Century Gothic"/>
              </a:rPr>
              <a:t>detects</a:t>
            </a:r>
            <a:r>
              <a:rPr sz="1350" spc="15" dirty="0">
                <a:latin typeface="Century Gothic"/>
                <a:cs typeface="Century Gothic"/>
              </a:rPr>
              <a:t> </a:t>
            </a:r>
            <a:r>
              <a:rPr sz="1350" spc="-160" dirty="0">
                <a:latin typeface="Century Gothic"/>
                <a:cs typeface="Century Gothic"/>
              </a:rPr>
              <a:t>odd</a:t>
            </a:r>
            <a:r>
              <a:rPr sz="1350" spc="3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parity.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6300" y="1340211"/>
            <a:ext cx="2348865" cy="27266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50" b="1" spc="95" dirty="0">
                <a:solidFill>
                  <a:srgbClr val="212829"/>
                </a:solidFill>
                <a:latin typeface="Courier New"/>
                <a:cs typeface="Courier New"/>
              </a:rPr>
              <a:t>CARRY-</a:t>
            </a:r>
            <a:r>
              <a:rPr sz="1250" b="1" spc="35" dirty="0">
                <a:solidFill>
                  <a:srgbClr val="212829"/>
                </a:solidFill>
                <a:latin typeface="Courier New"/>
                <a:cs typeface="Courier New"/>
              </a:rPr>
              <a:t>OUT</a:t>
            </a:r>
            <a:endParaRPr sz="1250">
              <a:latin typeface="Courier New"/>
              <a:cs typeface="Courier New"/>
            </a:endParaRPr>
          </a:p>
          <a:p>
            <a:pPr marR="18415" algn="ctr">
              <a:lnSpc>
                <a:spcPct val="100000"/>
              </a:lnSpc>
              <a:spcBef>
                <a:spcPts val="750"/>
              </a:spcBef>
            </a:pPr>
            <a:r>
              <a:rPr sz="2300" i="1" spc="114" dirty="0">
                <a:solidFill>
                  <a:srgbClr val="212829"/>
                </a:solidFill>
                <a:latin typeface="Book Antiqua"/>
                <a:cs typeface="Book Antiqua"/>
              </a:rPr>
              <a:t>Cout</a:t>
            </a:r>
            <a:r>
              <a:rPr sz="2300" i="1" spc="55" dirty="0">
                <a:solidFill>
                  <a:srgbClr val="212829"/>
                </a:solidFill>
                <a:latin typeface="Book Antiqua"/>
                <a:cs typeface="Book Antiqua"/>
              </a:rPr>
              <a:t> </a:t>
            </a:r>
            <a:r>
              <a:rPr sz="2300" dirty="0">
                <a:solidFill>
                  <a:srgbClr val="212829"/>
                </a:solidFill>
                <a:latin typeface="Lucida Sans Unicode"/>
                <a:cs typeface="Lucida Sans Unicode"/>
              </a:rPr>
              <a:t>=</a:t>
            </a:r>
            <a:r>
              <a:rPr sz="2300" spc="-95" dirty="0">
                <a:solidFill>
                  <a:srgbClr val="212829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212829"/>
                </a:solidFill>
                <a:latin typeface="Lucida Sans Unicode"/>
                <a:cs typeface="Lucida Sans Unicode"/>
              </a:rPr>
              <a:t>(</a:t>
            </a:r>
            <a:r>
              <a:rPr sz="2300" i="1" spc="105" dirty="0">
                <a:solidFill>
                  <a:srgbClr val="212829"/>
                </a:solidFill>
                <a:latin typeface="Book Antiqua"/>
                <a:cs typeface="Book Antiqua"/>
              </a:rPr>
              <a:t>A</a:t>
            </a:r>
            <a:r>
              <a:rPr sz="2300" i="1" spc="-70" dirty="0">
                <a:solidFill>
                  <a:srgbClr val="212829"/>
                </a:solidFill>
                <a:latin typeface="Book Antiqua"/>
                <a:cs typeface="Book Antiqua"/>
              </a:rPr>
              <a:t> </a:t>
            </a:r>
            <a:r>
              <a:rPr sz="2300" spc="-355" dirty="0">
                <a:solidFill>
                  <a:srgbClr val="212829"/>
                </a:solidFill>
                <a:latin typeface="Lucida Sans Unicode"/>
                <a:cs typeface="Lucida Sans Unicode"/>
              </a:rPr>
              <a:t>∧</a:t>
            </a:r>
            <a:endParaRPr sz="2300">
              <a:latin typeface="Lucida Sans Unicode"/>
              <a:cs typeface="Lucida Sans Unicode"/>
            </a:endParaRPr>
          </a:p>
          <a:p>
            <a:pPr marL="32384">
              <a:lnSpc>
                <a:spcPct val="100000"/>
              </a:lnSpc>
              <a:spcBef>
                <a:spcPts val="165"/>
              </a:spcBef>
            </a:pPr>
            <a:r>
              <a:rPr sz="2300" i="1" spc="305" dirty="0">
                <a:solidFill>
                  <a:srgbClr val="212829"/>
                </a:solidFill>
                <a:latin typeface="Book Antiqua"/>
                <a:cs typeface="Book Antiqua"/>
              </a:rPr>
              <a:t>B</a:t>
            </a:r>
            <a:r>
              <a:rPr sz="2300" spc="305" dirty="0">
                <a:solidFill>
                  <a:srgbClr val="212829"/>
                </a:solidFill>
                <a:latin typeface="Lucida Sans Unicode"/>
                <a:cs typeface="Lucida Sans Unicode"/>
              </a:rPr>
              <a:t>)</a:t>
            </a:r>
            <a:r>
              <a:rPr sz="2300" spc="-210" dirty="0">
                <a:solidFill>
                  <a:srgbClr val="212829"/>
                </a:solidFill>
                <a:latin typeface="Lucida Sans Unicode"/>
                <a:cs typeface="Lucida Sans Unicode"/>
              </a:rPr>
              <a:t> </a:t>
            </a:r>
            <a:r>
              <a:rPr sz="2300" spc="-295" dirty="0">
                <a:solidFill>
                  <a:srgbClr val="212829"/>
                </a:solidFill>
                <a:latin typeface="Lucida Sans Unicode"/>
                <a:cs typeface="Lucida Sans Unicode"/>
              </a:rPr>
              <a:t>∨</a:t>
            </a:r>
            <a:r>
              <a:rPr sz="2300" spc="-210" dirty="0">
                <a:solidFill>
                  <a:srgbClr val="212829"/>
                </a:solidFill>
                <a:latin typeface="Lucida Sans Unicode"/>
                <a:cs typeface="Lucida Sans Unicode"/>
              </a:rPr>
              <a:t> </a:t>
            </a:r>
            <a:r>
              <a:rPr sz="2300" spc="165" dirty="0">
                <a:solidFill>
                  <a:srgbClr val="212829"/>
                </a:solidFill>
                <a:latin typeface="Lucida Sans Unicode"/>
                <a:cs typeface="Lucida Sans Unicode"/>
              </a:rPr>
              <a:t>(</a:t>
            </a:r>
            <a:r>
              <a:rPr sz="2300" i="1" spc="165" dirty="0">
                <a:solidFill>
                  <a:srgbClr val="212829"/>
                </a:solidFill>
                <a:latin typeface="Book Antiqua"/>
                <a:cs typeface="Book Antiqua"/>
              </a:rPr>
              <a:t>Cin</a:t>
            </a:r>
            <a:r>
              <a:rPr sz="2300" i="1" spc="-55" dirty="0">
                <a:solidFill>
                  <a:srgbClr val="212829"/>
                </a:solidFill>
                <a:latin typeface="Book Antiqua"/>
                <a:cs typeface="Book Antiqua"/>
              </a:rPr>
              <a:t> </a:t>
            </a:r>
            <a:r>
              <a:rPr sz="2300" spc="-295" dirty="0">
                <a:solidFill>
                  <a:srgbClr val="212829"/>
                </a:solidFill>
                <a:latin typeface="Lucida Sans Unicode"/>
                <a:cs typeface="Lucida Sans Unicode"/>
              </a:rPr>
              <a:t>∧</a:t>
            </a:r>
            <a:r>
              <a:rPr sz="2300" spc="-210" dirty="0">
                <a:solidFill>
                  <a:srgbClr val="212829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212829"/>
                </a:solidFill>
                <a:latin typeface="Lucida Sans Unicode"/>
                <a:cs typeface="Lucida Sans Unicode"/>
              </a:rPr>
              <a:t>(</a:t>
            </a:r>
            <a:r>
              <a:rPr sz="2300" i="1" spc="105" dirty="0">
                <a:solidFill>
                  <a:srgbClr val="212829"/>
                </a:solidFill>
                <a:latin typeface="Book Antiqua"/>
                <a:cs typeface="Book Antiqua"/>
              </a:rPr>
              <a:t>A</a:t>
            </a:r>
            <a:r>
              <a:rPr sz="2300" i="1" spc="-55" dirty="0">
                <a:solidFill>
                  <a:srgbClr val="212829"/>
                </a:solidFill>
                <a:latin typeface="Book Antiqua"/>
                <a:cs typeface="Book Antiqua"/>
              </a:rPr>
              <a:t> </a:t>
            </a:r>
            <a:r>
              <a:rPr sz="2300" spc="-50" dirty="0">
                <a:solidFill>
                  <a:srgbClr val="212829"/>
                </a:solidFill>
                <a:latin typeface="Lucida Sans Unicode"/>
                <a:cs typeface="Lucida Sans Unicode"/>
              </a:rPr>
              <a:t>⊕</a:t>
            </a:r>
            <a:endParaRPr sz="2300">
              <a:latin typeface="Lucida Sans Unicode"/>
              <a:cs typeface="Lucida Sans Unicode"/>
            </a:endParaRPr>
          </a:p>
          <a:p>
            <a:pPr marL="38735" algn="ctr">
              <a:lnSpc>
                <a:spcPct val="100000"/>
              </a:lnSpc>
              <a:spcBef>
                <a:spcPts val="165"/>
              </a:spcBef>
            </a:pPr>
            <a:r>
              <a:rPr sz="2300" i="1" spc="225" dirty="0">
                <a:solidFill>
                  <a:srgbClr val="212829"/>
                </a:solidFill>
                <a:latin typeface="Book Antiqua"/>
                <a:cs typeface="Book Antiqua"/>
              </a:rPr>
              <a:t>B</a:t>
            </a:r>
            <a:r>
              <a:rPr sz="2300" spc="225" dirty="0">
                <a:solidFill>
                  <a:srgbClr val="212829"/>
                </a:solidFill>
                <a:latin typeface="Lucida Sans Unicode"/>
                <a:cs typeface="Lucida Sans Unicode"/>
              </a:rPr>
              <a:t>))</a:t>
            </a:r>
            <a:endParaRPr sz="2300">
              <a:latin typeface="Lucida Sans Unicode"/>
              <a:cs typeface="Lucida Sans Unicode"/>
            </a:endParaRPr>
          </a:p>
          <a:p>
            <a:pPr marL="12700" marR="203835">
              <a:lnSpc>
                <a:spcPct val="110300"/>
              </a:lnSpc>
              <a:spcBef>
                <a:spcPts val="1005"/>
              </a:spcBef>
            </a:pPr>
            <a:r>
              <a:rPr sz="1700" spc="-165" dirty="0">
                <a:solidFill>
                  <a:srgbClr val="212829"/>
                </a:solidFill>
                <a:latin typeface="Century Gothic"/>
                <a:cs typeface="Century Gothic"/>
              </a:rPr>
              <a:t>Cout</a:t>
            </a:r>
            <a:r>
              <a:rPr sz="1700" spc="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130" dirty="0">
                <a:solidFill>
                  <a:srgbClr val="212829"/>
                </a:solidFill>
                <a:latin typeface="Century Gothic"/>
                <a:cs typeface="Century Gothic"/>
              </a:rPr>
              <a:t>is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65" dirty="0">
                <a:solidFill>
                  <a:srgbClr val="212829"/>
                </a:solidFill>
                <a:latin typeface="Century Gothic"/>
                <a:cs typeface="Century Gothic"/>
              </a:rPr>
              <a:t>1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95" dirty="0">
                <a:solidFill>
                  <a:srgbClr val="212829"/>
                </a:solidFill>
                <a:latin typeface="Century Gothic"/>
                <a:cs typeface="Century Gothic"/>
              </a:rPr>
              <a:t>when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65" dirty="0">
                <a:solidFill>
                  <a:srgbClr val="212829"/>
                </a:solidFill>
                <a:latin typeface="Century Gothic"/>
                <a:cs typeface="Century Gothic"/>
              </a:rPr>
              <a:t>at</a:t>
            </a:r>
            <a:r>
              <a:rPr sz="1700" spc="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50" dirty="0">
                <a:solidFill>
                  <a:srgbClr val="212829"/>
                </a:solidFill>
                <a:latin typeface="Century Gothic"/>
                <a:cs typeface="Century Gothic"/>
              </a:rPr>
              <a:t>least </a:t>
            </a:r>
            <a:r>
              <a:rPr sz="1700" spc="-185" dirty="0">
                <a:solidFill>
                  <a:srgbClr val="212829"/>
                </a:solidFill>
                <a:latin typeface="Century Gothic"/>
                <a:cs typeface="Century Gothic"/>
              </a:rPr>
              <a:t>two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30" dirty="0">
                <a:solidFill>
                  <a:srgbClr val="212829"/>
                </a:solidFill>
                <a:latin typeface="Century Gothic"/>
                <a:cs typeface="Century Gothic"/>
              </a:rPr>
              <a:t>inputs</a:t>
            </a:r>
            <a:r>
              <a:rPr sz="1700" spc="-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145" dirty="0">
                <a:solidFill>
                  <a:srgbClr val="212829"/>
                </a:solidFill>
                <a:latin typeface="Century Gothic"/>
                <a:cs typeface="Century Gothic"/>
              </a:rPr>
              <a:t>are</a:t>
            </a:r>
            <a:r>
              <a:rPr sz="170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700" spc="-25" dirty="0">
                <a:solidFill>
                  <a:srgbClr val="212829"/>
                </a:solidFill>
                <a:latin typeface="Century Gothic"/>
                <a:cs typeface="Century Gothic"/>
              </a:rPr>
              <a:t>1.</a:t>
            </a:r>
            <a:endParaRPr sz="1700">
              <a:latin typeface="Century Gothic"/>
              <a:cs typeface="Century Gothic"/>
            </a:endParaRPr>
          </a:p>
          <a:p>
            <a:pPr marL="12700" marR="5080">
              <a:lnSpc>
                <a:spcPct val="106500"/>
              </a:lnSpc>
              <a:spcBef>
                <a:spcPts val="1055"/>
              </a:spcBef>
            </a:pPr>
            <a:r>
              <a:rPr sz="1350" spc="-100" dirty="0">
                <a:solidFill>
                  <a:srgbClr val="212829"/>
                </a:solidFill>
                <a:latin typeface="Century Gothic"/>
                <a:cs typeface="Century Gothic"/>
              </a:rPr>
              <a:t>AND</a:t>
            </a:r>
            <a:r>
              <a:rPr sz="1350" spc="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212829"/>
                </a:solidFill>
                <a:latin typeface="Century Gothic"/>
                <a:cs typeface="Century Gothic"/>
              </a:rPr>
              <a:t>finds</a:t>
            </a:r>
            <a:r>
              <a:rPr sz="1350" spc="-2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spc="-20" dirty="0">
                <a:solidFill>
                  <a:srgbClr val="212829"/>
                </a:solidFill>
                <a:latin typeface="Century Gothic"/>
                <a:cs typeface="Century Gothic"/>
              </a:rPr>
              <a:t>pairs;</a:t>
            </a:r>
            <a:r>
              <a:rPr sz="135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spc="-60" dirty="0">
                <a:solidFill>
                  <a:srgbClr val="212829"/>
                </a:solidFill>
                <a:latin typeface="Century Gothic"/>
                <a:cs typeface="Century Gothic"/>
              </a:rPr>
              <a:t>OR</a:t>
            </a:r>
            <a:r>
              <a:rPr sz="1350" spc="-1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spc="-70" dirty="0">
                <a:solidFill>
                  <a:srgbClr val="212829"/>
                </a:solidFill>
                <a:latin typeface="Century Gothic"/>
                <a:cs typeface="Century Gothic"/>
              </a:rPr>
              <a:t>combines the</a:t>
            </a:r>
            <a:r>
              <a:rPr sz="1350" spc="-20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spc="-70" dirty="0">
                <a:solidFill>
                  <a:srgbClr val="212829"/>
                </a:solidFill>
                <a:latin typeface="Century Gothic"/>
                <a:cs typeface="Century Gothic"/>
              </a:rPr>
              <a:t>carry</a:t>
            </a:r>
            <a:r>
              <a:rPr sz="1350" spc="-15" dirty="0">
                <a:solidFill>
                  <a:srgbClr val="212829"/>
                </a:solidFill>
                <a:latin typeface="Century Gothic"/>
                <a:cs typeface="Century Gothic"/>
              </a:rPr>
              <a:t> </a:t>
            </a:r>
            <a:r>
              <a:rPr sz="1350" spc="-10" dirty="0">
                <a:solidFill>
                  <a:srgbClr val="212829"/>
                </a:solidFill>
                <a:latin typeface="Century Gothic"/>
                <a:cs typeface="Century Gothic"/>
              </a:rPr>
              <a:t>cases.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4317364"/>
            <a:ext cx="5461000" cy="11303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60"/>
              </a:spcBef>
            </a:pPr>
            <a:r>
              <a:rPr sz="1350" spc="-65" dirty="0">
                <a:solidFill>
                  <a:srgbClr val="5D6263"/>
                </a:solidFill>
                <a:latin typeface="Century Gothic"/>
                <a:cs typeface="Century Gothic"/>
              </a:rPr>
              <a:t>References:</a:t>
            </a:r>
            <a:r>
              <a:rPr sz="1350" spc="1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50" dirty="0">
                <a:solidFill>
                  <a:srgbClr val="5D6263"/>
                </a:solidFill>
                <a:latin typeface="Century Gothic"/>
                <a:cs typeface="Century Gothic"/>
              </a:rPr>
              <a:t>RISC-</a:t>
            </a:r>
            <a:r>
              <a:rPr sz="1350" spc="-170" dirty="0">
                <a:solidFill>
                  <a:srgbClr val="5D6263"/>
                </a:solidFill>
                <a:latin typeface="Century Gothic"/>
                <a:cs typeface="Century Gothic"/>
              </a:rPr>
              <a:t>V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0" dirty="0">
                <a:solidFill>
                  <a:srgbClr val="5D6263"/>
                </a:solidFill>
                <a:latin typeface="Century Gothic"/>
                <a:cs typeface="Century Gothic"/>
              </a:rPr>
              <a:t>specifications, </a:t>
            </a:r>
            <a:r>
              <a:rPr sz="1350" spc="-60" dirty="0">
                <a:solidFill>
                  <a:srgbClr val="5D6263"/>
                </a:solidFill>
                <a:latin typeface="Century Gothic"/>
                <a:cs typeface="Century Gothic"/>
                <a:hlinkClick r:id="rId2"/>
              </a:rPr>
              <a:t>https://riscv.org/technical/specifications/</a:t>
            </a:r>
            <a:r>
              <a:rPr sz="1350" spc="8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40" dirty="0">
                <a:solidFill>
                  <a:srgbClr val="5D6263"/>
                </a:solidFill>
                <a:latin typeface="Century Gothic"/>
                <a:cs typeface="Century Gothic"/>
              </a:rPr>
              <a:t>·</a:t>
            </a:r>
            <a:r>
              <a:rPr sz="1350" spc="9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Logisim</a:t>
            </a:r>
            <a:r>
              <a:rPr sz="1350" spc="8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0" dirty="0">
                <a:solidFill>
                  <a:srgbClr val="5D6263"/>
                </a:solidFill>
                <a:latin typeface="Century Gothic"/>
                <a:cs typeface="Century Gothic"/>
              </a:rPr>
              <a:t>Evolution </a:t>
            </a:r>
            <a:r>
              <a:rPr sz="1350" spc="-110" dirty="0">
                <a:solidFill>
                  <a:srgbClr val="5D6263"/>
                </a:solidFill>
                <a:latin typeface="Century Gothic"/>
                <a:cs typeface="Century Gothic"/>
              </a:rPr>
              <a:t>documentation,</a:t>
            </a:r>
            <a:r>
              <a:rPr sz="1350" spc="80" dirty="0">
                <a:solidFill>
                  <a:srgbClr val="5D6263"/>
                </a:solidFill>
                <a:latin typeface="Century Gothic"/>
                <a:cs typeface="Century Gothic"/>
              </a:rPr>
              <a:t>  </a:t>
            </a:r>
            <a:r>
              <a:rPr sz="1350" spc="-65" dirty="0">
                <a:solidFill>
                  <a:srgbClr val="5D6263"/>
                </a:solidFill>
                <a:latin typeface="Century Gothic"/>
                <a:cs typeface="Century Gothic"/>
                <a:hlinkClick r:id="rId3"/>
              </a:rPr>
              <a:t>https://github.com/logisim-</a:t>
            </a:r>
            <a:r>
              <a:rPr sz="1350" spc="-45" dirty="0">
                <a:solidFill>
                  <a:srgbClr val="5D6263"/>
                </a:solidFill>
                <a:latin typeface="Century Gothic"/>
                <a:cs typeface="Century Gothic"/>
                <a:hlinkClick r:id="rId3"/>
              </a:rPr>
              <a:t>evolution/logisim-</a:t>
            </a:r>
            <a:r>
              <a:rPr sz="1350" spc="-25" dirty="0">
                <a:solidFill>
                  <a:srgbClr val="5D6263"/>
                </a:solidFill>
                <a:latin typeface="Century Gothic"/>
                <a:cs typeface="Century Gothic"/>
                <a:hlinkClick r:id="rId3"/>
              </a:rPr>
              <a:t>evolution</a:t>
            </a:r>
            <a:endParaRPr sz="1350">
              <a:latin typeface="Century Gothic"/>
              <a:cs typeface="Century Gothic"/>
            </a:endParaRPr>
          </a:p>
          <a:p>
            <a:pPr marL="12700" marR="1000125">
              <a:lnSpc>
                <a:spcPct val="106500"/>
              </a:lnSpc>
            </a:pPr>
            <a:r>
              <a:rPr sz="1350" spc="-140" dirty="0">
                <a:solidFill>
                  <a:srgbClr val="5D6263"/>
                </a:solidFill>
                <a:latin typeface="Century Gothic"/>
                <a:cs typeface="Century Gothic"/>
              </a:rPr>
              <a:t>·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05" dirty="0">
                <a:solidFill>
                  <a:srgbClr val="5D6263"/>
                </a:solidFill>
                <a:latin typeface="Century Gothic"/>
                <a:cs typeface="Century Gothic"/>
              </a:rPr>
              <a:t>M.</a:t>
            </a:r>
            <a:r>
              <a:rPr sz="1350" spc="1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Morris</a:t>
            </a:r>
            <a:r>
              <a:rPr sz="1350" spc="-1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40" dirty="0">
                <a:solidFill>
                  <a:srgbClr val="5D6263"/>
                </a:solidFill>
                <a:latin typeface="Century Gothic"/>
                <a:cs typeface="Century Gothic"/>
              </a:rPr>
              <a:t>Mano,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20" dirty="0">
                <a:solidFill>
                  <a:srgbClr val="5D6263"/>
                </a:solidFill>
                <a:latin typeface="Century Gothic"/>
                <a:cs typeface="Century Gothic"/>
              </a:rPr>
              <a:t>Digital</a:t>
            </a:r>
            <a:r>
              <a:rPr sz="1350" spc="2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30" dirty="0">
                <a:solidFill>
                  <a:srgbClr val="5D6263"/>
                </a:solidFill>
                <a:latin typeface="Century Gothic"/>
                <a:cs typeface="Century Gothic"/>
              </a:rPr>
              <a:t>Design</a:t>
            </a:r>
            <a:r>
              <a:rPr sz="1350" spc="1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40" dirty="0">
                <a:solidFill>
                  <a:srgbClr val="5D6263"/>
                </a:solidFill>
                <a:latin typeface="Century Gothic"/>
                <a:cs typeface="Century Gothic"/>
              </a:rPr>
              <a:t>·</a:t>
            </a:r>
            <a:r>
              <a:rPr sz="1350" spc="3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35" dirty="0">
                <a:solidFill>
                  <a:srgbClr val="5D6263"/>
                </a:solidFill>
                <a:latin typeface="Century Gothic"/>
                <a:cs typeface="Century Gothic"/>
              </a:rPr>
              <a:t>Thomas</a:t>
            </a:r>
            <a:r>
              <a:rPr sz="1350" spc="2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5D6263"/>
                </a:solidFill>
                <a:latin typeface="Century Gothic"/>
                <a:cs typeface="Century Gothic"/>
              </a:rPr>
              <a:t>L.</a:t>
            </a:r>
            <a:r>
              <a:rPr sz="1350" spc="15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60" dirty="0">
                <a:solidFill>
                  <a:srgbClr val="5D6263"/>
                </a:solidFill>
                <a:latin typeface="Century Gothic"/>
                <a:cs typeface="Century Gothic"/>
              </a:rPr>
              <a:t>Floyd,</a:t>
            </a:r>
            <a:r>
              <a:rPr sz="1350" spc="20" dirty="0">
                <a:solidFill>
                  <a:srgbClr val="5D6263"/>
                </a:solidFill>
                <a:latin typeface="Century Gothic"/>
                <a:cs typeface="Century Gothic"/>
              </a:rPr>
              <a:t> </a:t>
            </a:r>
            <a:r>
              <a:rPr sz="1350" spc="-10" dirty="0">
                <a:solidFill>
                  <a:srgbClr val="5D6263"/>
                </a:solidFill>
                <a:latin typeface="Century Gothic"/>
                <a:cs typeface="Century Gothic"/>
              </a:rPr>
              <a:t>Digital Fundamentals.</a:t>
            </a:r>
            <a:endParaRPr sz="1350">
              <a:latin typeface="Century Gothic"/>
              <a:cs typeface="Century Gothic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48399" y="1257299"/>
          <a:ext cx="5476875" cy="4299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45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2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9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CIN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145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SUM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b="1" spc="90" dirty="0">
                          <a:solidFill>
                            <a:srgbClr val="F4F0E6"/>
                          </a:solidFill>
                          <a:latin typeface="Trebuchet MS"/>
                          <a:cs typeface="Trebuchet MS"/>
                        </a:rPr>
                        <a:t>COUT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  <a:solidFill>
                      <a:srgbClr val="1D6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10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0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93345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700" spc="-315" dirty="0">
                          <a:solidFill>
                            <a:srgbClr val="212829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700">
                        <a:latin typeface="Century Gothic"/>
                        <a:cs typeface="Century Gothic"/>
                      </a:endParaRPr>
                    </a:p>
                  </a:txBody>
                  <a:tcPr marL="0" marR="0" marT="83820" marB="0">
                    <a:lnL w="9525">
                      <a:solidFill>
                        <a:srgbClr val="212829"/>
                      </a:solidFill>
                      <a:prstDash val="solid"/>
                    </a:lnL>
                    <a:lnR w="9525">
                      <a:solidFill>
                        <a:srgbClr val="212829"/>
                      </a:solidFill>
                      <a:prstDash val="solid"/>
                    </a:lnR>
                    <a:lnT w="9525">
                      <a:solidFill>
                        <a:srgbClr val="212829"/>
                      </a:solidFill>
                      <a:prstDash val="solid"/>
                    </a:lnT>
                    <a:lnB w="9525">
                      <a:solidFill>
                        <a:srgbClr val="21282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object 8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D626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660</Words>
  <Application>Microsoft Office PowerPoint</Application>
  <PresentationFormat>Widescreen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Book Antiqua</vt:lpstr>
      <vt:lpstr>Calibri</vt:lpstr>
      <vt:lpstr>Century Gothic</vt:lpstr>
      <vt:lpstr>Courier New</vt:lpstr>
      <vt:lpstr>Lucida Sans Unicode</vt:lpstr>
      <vt:lpstr>Times New Roman</vt:lpstr>
      <vt:lpstr>Trebuchet MS</vt:lpstr>
      <vt:lpstr>Office Theme</vt:lpstr>
      <vt:lpstr>PowerPoint Presentation</vt:lpstr>
      <vt:lpstr>ONE PROJECT, SIX MODULES, ONE ARITHMETIC STORY</vt:lpstr>
      <vt:lpstr>THE CPU TURNS INSTRUCTIONS INTO DATA MOVEMENT</vt:lpstr>
      <vt:lpstr>THE RISC-V ALU NEEDS ADDITION AT ITS CENTER</vt:lpstr>
      <vt:lpstr>DATAPATH: WHERE THE OPERANDS TRAVEL</vt:lpstr>
      <vt:lpstr>CONTROL SIGNALS SELECT THE ARITHMETIC FUNCTION</vt:lpstr>
      <vt:lpstr>REGISTERS HOLD VALUES BETWEEN CLOCK CYCLES</vt:lpstr>
      <vt:lpstr>CARRY IS DATA THAT MOVES THROUGH THE DATAPATH</vt:lpstr>
      <vt:lpstr>FROM HALF ADDER TO FULL ADDER</vt:lpstr>
      <vt:lpstr>THE FULL-ADDER EQUATIONS ARE SIMPLE AND REUSABLE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Sriram Abbaraju</dc:creator>
  <cp:lastModifiedBy>Sriram Abbaraju</cp:lastModifiedBy>
  <cp:revision>1</cp:revision>
  <dcterms:created xsi:type="dcterms:W3CDTF">2026-10-15T05:01:34Z</dcterms:created>
  <dcterms:modified xsi:type="dcterms:W3CDTF">2026-10-15T05:04:50Z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2026-10-14T00:00:00Z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2026-10-15T00:00:00Z</vt:filetime>
  </property>
  <property fmtid="{D5CDD505-2E9C-101B-9397-08002B2CF9AE}" pid="6" name="Producer">
    <vt:lpwstr>pdf-lib (https://github.com/Hopding/pdf-lib)</vt:lpwstr>
  </property>
</Properties>
</file>